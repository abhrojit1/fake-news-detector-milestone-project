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69" r:id="rId5"/>
    <p:sldId id="270" r:id="rId6"/>
    <p:sldId id="273" r:id="rId7"/>
    <p:sldId id="275" r:id="rId8"/>
    <p:sldId id="276" r:id="rId9"/>
    <p:sldId id="259" r:id="rId10"/>
    <p:sldId id="260" r:id="rId11"/>
    <p:sldId id="277" r:id="rId12"/>
    <p:sldId id="278" r:id="rId13"/>
    <p:sldId id="261" r:id="rId14"/>
    <p:sldId id="262" r:id="rId15"/>
    <p:sldId id="264" r:id="rId16"/>
    <p:sldId id="272" r:id="rId17"/>
    <p:sldId id="265" r:id="rId18"/>
    <p:sldId id="274" r:id="rId19"/>
    <p:sldId id="267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CC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85800" y="1346947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685800" y="4282763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685800" y="1484779"/>
            <a:ext cx="7772400" cy="274320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>
            <a:grpSpLocks noChangeAspect="1"/>
          </p:cNvGrpSpPr>
          <p:nvPr/>
        </p:nvGrpSpPr>
        <p:grpSpPr>
          <a:xfrm>
            <a:off x="7234780" y="4107023"/>
            <a:ext cx="914400" cy="914400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432223"/>
            <a:ext cx="759333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6400" b="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4389120"/>
            <a:ext cx="5918454" cy="106984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12805" y="6272785"/>
            <a:ext cx="474573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44280" y="4227195"/>
            <a:ext cx="895401" cy="640080"/>
          </a:xfrm>
        </p:spPr>
        <p:txBody>
          <a:bodyPr/>
          <a:lstStyle>
            <a:lvl1pPr>
              <a:defRPr sz="2800" b="1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48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355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9144000" cy="194001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1225296"/>
            <a:ext cx="696087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0" y="5020056"/>
            <a:ext cx="6789420" cy="1066800"/>
          </a:xfrm>
        </p:spPr>
        <p:txBody>
          <a:bodyPr anchor="t">
            <a:normAutofit/>
          </a:bodyPr>
          <a:lstStyle>
            <a:lvl1pPr marL="0" indent="0">
              <a:buNone/>
              <a:defRPr sz="1800" b="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6272785"/>
            <a:ext cx="1983232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6099" y="6272784"/>
            <a:ext cx="4745736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633862" y="2430623"/>
            <a:ext cx="914400" cy="914400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450" y="2508607"/>
            <a:ext cx="891224" cy="720332"/>
          </a:xfrm>
        </p:spPr>
        <p:txBody>
          <a:bodyPr/>
          <a:lstStyle>
            <a:lvl1pPr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7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92218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671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0793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0793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885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940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032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685800"/>
            <a:ext cx="5033772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197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6227805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16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554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33400"/>
            <a:ext cx="1914525" cy="5638800"/>
          </a:xfrm>
        </p:spPr>
        <p:txBody>
          <a:bodyPr vert="eaVert"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533400"/>
            <a:ext cx="5629275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97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84632"/>
            <a:ext cx="7772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21408"/>
            <a:ext cx="7772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2368" y="6272785"/>
            <a:ext cx="24551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6272785"/>
            <a:ext cx="4800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b="1" spc="-70" baseline="0">
                <a:solidFill>
                  <a:srgbClr val="FFFFFF"/>
                </a:solidFill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18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b="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emineyetm/fake-news-detection-datasets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Fake News Detection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AI-Powered Detection using Flask, Machine Learning, and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Flask backend provides a REST API for ML predictions</a:t>
            </a:r>
          </a:p>
          <a:p>
            <a:pPr>
              <a:spcAft>
                <a:spcPts val="500"/>
              </a:spcAft>
              <a:defRPr sz="2000"/>
            </a:pPr>
            <a:r>
              <a:t>• React frontend for interactive and modern UI</a:t>
            </a:r>
          </a:p>
          <a:p>
            <a:pPr>
              <a:spcAft>
                <a:spcPts val="500"/>
              </a:spcAft>
              <a:defRPr sz="2000"/>
            </a:pPr>
            <a:r>
              <a:t>• Logistic Regression model trained on Kaggle datasets</a:t>
            </a:r>
          </a:p>
          <a:p>
            <a:pPr>
              <a:spcAft>
                <a:spcPts val="500"/>
              </a:spcAft>
              <a:defRPr sz="2000"/>
            </a:pPr>
            <a:r>
              <a:t>• Real-time predictions with TF-IDF vectorization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The rapid spread of misinformation online has major social and political impacts.</a:t>
            </a:r>
          </a:p>
          <a:p>
            <a:pPr>
              <a:spcAft>
                <a:spcPts val="500"/>
              </a:spcAft>
              <a:defRPr sz="2000"/>
            </a:pPr>
            <a:r>
              <a:t>• Manual verification is inefficient and time-consuming.</a:t>
            </a:r>
          </a:p>
          <a:p>
            <a:pPr>
              <a:spcAft>
                <a:spcPts val="500"/>
              </a:spcAft>
              <a:defRPr sz="2000"/>
            </a:pPr>
            <a:r>
              <a:t>• Need for automated, reliable fake news detection system using AI.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4F88B-5B32-F81D-8996-5475FD41E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CC"/>
                </a:solidFill>
              </a:rPr>
              <a:t>Dataset used for training</a:t>
            </a:r>
            <a:endParaRPr lang="en-IN" dirty="0">
              <a:solidFill>
                <a:srgbClr val="0000CC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14834-E4D4-BE9B-F999-DF0D019440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600" dirty="0"/>
              <a:t>Source:</a:t>
            </a:r>
            <a:endParaRPr lang="en-US" sz="2600" dirty="0">
              <a:hlinkClick r:id="rId2"/>
            </a:endParaRPr>
          </a:p>
          <a:p>
            <a:pPr marL="0" indent="0">
              <a:buNone/>
            </a:pPr>
            <a:r>
              <a:rPr lang="en-US" sz="2600" u="sng" dirty="0">
                <a:hlinkClick r:id="rId2"/>
              </a:rPr>
              <a:t> Fake news detection dataset</a:t>
            </a:r>
            <a:r>
              <a:rPr lang="en-US" sz="2600" u="sng" dirty="0"/>
              <a:t> </a:t>
            </a:r>
            <a:r>
              <a:rPr lang="en-US" sz="2600" dirty="0"/>
              <a:t>(Kaggle)</a:t>
            </a:r>
          </a:p>
          <a:p>
            <a:pPr marL="0" indent="0">
              <a:buNone/>
            </a:pPr>
            <a:r>
              <a:rPr lang="en-US" sz="2600" dirty="0"/>
              <a:t>Total articles: 44,000+</a:t>
            </a:r>
          </a:p>
          <a:p>
            <a:pPr marL="0" indent="0">
              <a:buNone/>
            </a:pPr>
            <a:r>
              <a:rPr lang="en-US" sz="2600" dirty="0"/>
              <a:t>Fake articles: 21,000+</a:t>
            </a:r>
          </a:p>
          <a:p>
            <a:pPr marL="0" indent="0">
              <a:buNone/>
            </a:pPr>
            <a:r>
              <a:rPr lang="en-US" sz="2600" dirty="0"/>
              <a:t>Real articles: 23,000+</a:t>
            </a:r>
          </a:p>
          <a:p>
            <a:pPr marL="0" indent="0">
              <a:buNone/>
            </a:pPr>
            <a:endParaRPr lang="en-US" sz="2600" u="sng" dirty="0"/>
          </a:p>
          <a:p>
            <a:pPr marL="0" indent="0">
              <a:buNone/>
            </a:pPr>
            <a:endParaRPr lang="en-IN" sz="2600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727414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597899-2180-6E50-DF9B-8B316BEE72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383459"/>
            <a:ext cx="7772400" cy="5788742"/>
          </a:xfrm>
        </p:spPr>
        <p:txBody>
          <a:bodyPr/>
          <a:lstStyle/>
          <a:p>
            <a:pPr marL="548640" lvl="2" indent="0">
              <a:buNone/>
            </a:pPr>
            <a:r>
              <a:rPr lang="en-US" sz="3800" dirty="0">
                <a:solidFill>
                  <a:srgbClr val="0000CC"/>
                </a:solidFill>
                <a:latin typeface="+mj-lt"/>
              </a:rPr>
              <a:t>      Fake vs real news distribution: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8" name="Picture 7" descr="A group of graphs and charts&#10;&#10;AI-generated content may be incorrect.">
            <a:extLst>
              <a:ext uri="{FF2B5EF4-FFF2-40B4-BE49-F238E27FC236}">
                <a16:creationId xmlns:a16="http://schemas.microsoft.com/office/drawing/2014/main" id="{97D359A2-C9F4-062D-A161-717AEF534E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302" r="31934" b="48609"/>
          <a:stretch>
            <a:fillRect/>
          </a:stretch>
        </p:blipFill>
        <p:spPr>
          <a:xfrm>
            <a:off x="1974145" y="1799303"/>
            <a:ext cx="5195709" cy="3490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485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29734-4741-95D1-1C75-2D19C216B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491612"/>
            <a:ext cx="7772400" cy="668299"/>
          </a:xfrm>
        </p:spPr>
        <p:txBody>
          <a:bodyPr/>
          <a:lstStyle/>
          <a:p>
            <a:r>
              <a:rPr lang="en-US" dirty="0">
                <a:solidFill>
                  <a:srgbClr val="0000CC"/>
                </a:solidFill>
              </a:rPr>
              <a:t>DETAILS OF ARTICLES IN DATASET</a:t>
            </a:r>
            <a:endParaRPr lang="en-IN" dirty="0">
              <a:solidFill>
                <a:srgbClr val="0000CC"/>
              </a:solidFill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AE0497F-B20D-11FB-D612-CF86A31779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57248"/>
          <a:stretch>
            <a:fillRect/>
          </a:stretch>
        </p:blipFill>
        <p:spPr>
          <a:xfrm>
            <a:off x="685800" y="1425677"/>
            <a:ext cx="7878097" cy="200332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AC26FD-2A0A-2EBD-43F4-B91E999E9B43}"/>
              </a:ext>
            </a:extLst>
          </p:cNvPr>
          <p:cNvSpPr txBox="1"/>
          <p:nvPr/>
        </p:nvSpPr>
        <p:spPr>
          <a:xfrm>
            <a:off x="685800" y="3824748"/>
            <a:ext cx="741598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graph shows us that:</a:t>
            </a:r>
          </a:p>
          <a:p>
            <a:r>
              <a:rPr lang="en-US" dirty="0"/>
              <a:t>&gt;Fake news articles have a larger range of words from 200-1000 words, while Real news articles have a smaller range of 200-600 words, likely due to a lot more filler content in fake news articles</a:t>
            </a:r>
          </a:p>
          <a:p>
            <a:r>
              <a:rPr lang="en-US" dirty="0"/>
              <a:t>&gt;Very large articles(1300-2000 words) are almost always fake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422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A950A5C-AF08-6815-2D07-6C3823D5AD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49693"/>
          <a:stretch>
            <a:fillRect/>
          </a:stretch>
        </p:blipFill>
        <p:spPr>
          <a:xfrm>
            <a:off x="168444" y="462116"/>
            <a:ext cx="7471221" cy="2966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AA9F605-3762-E4EC-B870-5C449C144589}"/>
              </a:ext>
            </a:extLst>
          </p:cNvPr>
          <p:cNvSpPr txBox="1"/>
          <p:nvPr/>
        </p:nvSpPr>
        <p:spPr>
          <a:xfrm>
            <a:off x="168444" y="4218039"/>
            <a:ext cx="79641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graph shows us:</a:t>
            </a:r>
          </a:p>
          <a:p>
            <a:r>
              <a:rPr lang="en-US" dirty="0"/>
              <a:t>&gt;Fake news articles use a lot more exclamation marks in comparison to real news articles</a:t>
            </a:r>
          </a:p>
          <a:p>
            <a:r>
              <a:rPr lang="en-US" dirty="0"/>
              <a:t>&gt;Real news articles use barely any exclamation marks, as they adhere to professional journalistic standards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0966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graphs and charts&#10;&#10;AI-generated content may be incorrect.">
            <a:extLst>
              <a:ext uri="{FF2B5EF4-FFF2-40B4-BE49-F238E27FC236}">
                <a16:creationId xmlns:a16="http://schemas.microsoft.com/office/drawing/2014/main" id="{C67C29DF-AFAE-3C85-F045-9DF7BF6AD7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333" t="56346" b="7291"/>
          <a:stretch>
            <a:fillRect/>
          </a:stretch>
        </p:blipFill>
        <p:spPr>
          <a:xfrm>
            <a:off x="0" y="117987"/>
            <a:ext cx="8908026" cy="44146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00BA4E3-BD70-0E95-93AA-B38FB9104BA8}"/>
              </a:ext>
            </a:extLst>
          </p:cNvPr>
          <p:cNvSpPr txBox="1"/>
          <p:nvPr/>
        </p:nvSpPr>
        <p:spPr>
          <a:xfrm>
            <a:off x="285137" y="5191433"/>
            <a:ext cx="42082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word cloud shows the most frequent words used in the fake news articles dataset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041B83-1A04-AECA-75B1-EE94962EE306}"/>
              </a:ext>
            </a:extLst>
          </p:cNvPr>
          <p:cNvSpPr txBox="1"/>
          <p:nvPr/>
        </p:nvSpPr>
        <p:spPr>
          <a:xfrm>
            <a:off x="5073446" y="5191433"/>
            <a:ext cx="356911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word cloud shows the most frequent words used in the real news articles dataset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4010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rPr dirty="0"/>
              <a:t>Backend (Flask Application)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Flask REST API for model training and predictions</a:t>
            </a:r>
          </a:p>
          <a:p>
            <a:pPr>
              <a:spcAft>
                <a:spcPts val="500"/>
              </a:spcAft>
              <a:defRPr sz="2000"/>
            </a:pPr>
            <a:r>
              <a:t>• Endpoints:</a:t>
            </a:r>
          </a:p>
          <a:p>
            <a:pPr>
              <a:spcAft>
                <a:spcPts val="500"/>
              </a:spcAft>
              <a:defRPr sz="2000"/>
            </a:pPr>
            <a:r>
              <a:t>   - /api/predict → Predict fake or real news</a:t>
            </a:r>
          </a:p>
          <a:p>
            <a:pPr>
              <a:spcAft>
                <a:spcPts val="500"/>
              </a:spcAft>
              <a:defRPr sz="2000"/>
            </a:pPr>
            <a:r>
              <a:t>   - /api/stats → Retrieve model performance metrics</a:t>
            </a:r>
          </a:p>
          <a:p>
            <a:pPr>
              <a:spcAft>
                <a:spcPts val="500"/>
              </a:spcAft>
              <a:defRPr sz="2000"/>
            </a:pPr>
            <a:r>
              <a:t>   - /api/retrain → Retrain model with updated datasets</a:t>
            </a:r>
          </a:p>
          <a:p>
            <a:pPr>
              <a:spcAft>
                <a:spcPts val="500"/>
              </a:spcAft>
              <a:defRPr sz="2000"/>
            </a:pPr>
            <a:r>
              <a:t>• Saves trained model and TF-IDF vectorizer using Pickle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Machine Learning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Text preprocessing includes cleaning URLs, punctuation, and hashtags</a:t>
            </a:r>
          </a:p>
          <a:p>
            <a:pPr>
              <a:spcAft>
                <a:spcPts val="500"/>
              </a:spcAft>
              <a:defRPr sz="2000"/>
            </a:pPr>
            <a:r>
              <a:t>• TF-IDF Vectorizer extracts features from text</a:t>
            </a:r>
          </a:p>
          <a:p>
            <a:pPr>
              <a:spcAft>
                <a:spcPts val="500"/>
              </a:spcAft>
              <a:defRPr sz="2000"/>
            </a:pPr>
            <a:r>
              <a:t>• Logistic Regression classifier predicts fake vs. real</a:t>
            </a:r>
          </a:p>
          <a:p>
            <a:pPr>
              <a:spcAft>
                <a:spcPts val="500"/>
              </a:spcAft>
              <a:defRPr sz="2000"/>
            </a:pPr>
            <a:r>
              <a:t>• Model evaluated on Accuracy, Precision, Recall, and F1-score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41D9-36D2-A4F3-F698-C12A081C9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187" y="150089"/>
            <a:ext cx="7772400" cy="1071421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0000CC"/>
                </a:solidFill>
              </a:rPr>
              <a:t>WHY USE TF-IDF AND LOGISTIC REGRESSION?</a:t>
            </a:r>
            <a:endParaRPr lang="en-IN" dirty="0">
              <a:solidFill>
                <a:srgbClr val="0000CC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48941-F1C8-9876-1219-9895C7CDF2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61883"/>
            <a:ext cx="9144000" cy="5646027"/>
          </a:xfrm>
        </p:spPr>
        <p:txBody>
          <a:bodyPr>
            <a:normAutofit/>
          </a:bodyPr>
          <a:lstStyle/>
          <a:p>
            <a:r>
              <a:rPr lang="en-US" dirty="0"/>
              <a:t>First some explanations:</a:t>
            </a:r>
          </a:p>
          <a:p>
            <a:r>
              <a:rPr lang="en-US" dirty="0"/>
              <a:t> TF-IDF vectorization:</a:t>
            </a:r>
          </a:p>
          <a:p>
            <a:pPr lvl="1"/>
            <a:r>
              <a:rPr lang="en-US" dirty="0"/>
              <a:t>It is useful to identify meaningful words, reduce noise(words like: is, the </a:t>
            </a:r>
            <a:r>
              <a:rPr lang="en-US" dirty="0" err="1"/>
              <a:t>etc</a:t>
            </a:r>
            <a:r>
              <a:rPr lang="en-US" dirty="0"/>
              <a:t>) and help the model focus on informative words</a:t>
            </a:r>
          </a:p>
          <a:p>
            <a:pPr lvl="1"/>
            <a:r>
              <a:rPr lang="en-US" dirty="0"/>
              <a:t> TF(Term frequency): it measures how often a word appears in an article, but it alone is not enough, as some other common words(</a:t>
            </a:r>
            <a:r>
              <a:rPr lang="en-US" dirty="0" err="1"/>
              <a:t>eg</a:t>
            </a:r>
            <a:r>
              <a:rPr lang="en-US" dirty="0"/>
              <a:t>- news, breaking </a:t>
            </a:r>
            <a:r>
              <a:rPr lang="en-US" dirty="0" err="1"/>
              <a:t>etc</a:t>
            </a:r>
            <a:r>
              <a:rPr lang="en-US" dirty="0"/>
              <a:t>) appear quite frequently</a:t>
            </a:r>
          </a:p>
          <a:p>
            <a:pPr lvl="1"/>
            <a:r>
              <a:rPr lang="en-US" dirty="0"/>
              <a:t>IDF(inverse document frequency):</a:t>
            </a:r>
            <a:r>
              <a:rPr lang="en-IN" dirty="0"/>
              <a:t> It measures the rarity or uniqueness of a word, across the entire dataset, the formula for it is log(N/n), where N is the total number of documents and n is the number of documents containing the term</a:t>
            </a:r>
          </a:p>
          <a:p>
            <a:pPr lvl="1"/>
            <a:r>
              <a:rPr lang="en-IN" dirty="0"/>
              <a:t>Combining these two functions tells how important a word is in a specific document, a high TF-IDF score would indicate the word appears frequently in a specific article, but is rare across the dataset, making it very important, while ignoring words with a low score</a:t>
            </a:r>
          </a:p>
          <a:p>
            <a:pPr lvl="1"/>
            <a:r>
              <a:rPr lang="en-IN" dirty="0"/>
              <a:t>Why it works?: TF-IDF helps the model to detect linguistic differences between fake news and real news, for example, a real news article contains more neutral terms and professional vocabulary, while fake news articles contain sensational words and misleading terms like “</a:t>
            </a:r>
            <a:r>
              <a:rPr lang="en-IN" dirty="0" err="1"/>
              <a:t>outrageous”,”Secret</a:t>
            </a:r>
            <a:r>
              <a:rPr lang="en-IN" dirty="0"/>
              <a:t>” etc</a:t>
            </a:r>
          </a:p>
          <a:p>
            <a:pPr marL="548640" lvl="2" indent="0">
              <a:buNone/>
            </a:pPr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622221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BB3820-73BA-B844-01FC-D6D7853508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87" y="887853"/>
            <a:ext cx="8642555" cy="1588647"/>
          </a:xfrm>
        </p:spPr>
        <p:txBody>
          <a:bodyPr/>
          <a:lstStyle/>
          <a:p>
            <a:r>
              <a:rPr lang="en-US" dirty="0"/>
              <a:t>Logistic regression:</a:t>
            </a:r>
            <a:endParaRPr lang="en-IN" dirty="0"/>
          </a:p>
          <a:p>
            <a:pPr lvl="1"/>
            <a:r>
              <a:rPr lang="en-IN" dirty="0"/>
              <a:t>While it’s name has regression, it is actually a classification model</a:t>
            </a:r>
          </a:p>
          <a:p>
            <a:pPr lvl="1"/>
            <a:r>
              <a:rPr lang="en-IN" dirty="0"/>
              <a:t>It is excellent at finding patterns</a:t>
            </a:r>
          </a:p>
          <a:p>
            <a:pPr lvl="1"/>
            <a:r>
              <a:rPr lang="en-IN" dirty="0"/>
              <a:t>It assigns weights to words based on how strongly the word correlates to fake or real news, which gets more accurate every time it trains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FCDFB8-F4D3-74F9-436E-9FE79C4E5AF8}"/>
              </a:ext>
            </a:extLst>
          </p:cNvPr>
          <p:cNvSpPr txBox="1"/>
          <p:nvPr/>
        </p:nvSpPr>
        <p:spPr>
          <a:xfrm>
            <a:off x="212131" y="3346580"/>
            <a:ext cx="82460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Why use them both together?:</a:t>
            </a:r>
          </a:p>
          <a:p>
            <a:r>
              <a:rPr lang="en-US" dirty="0">
                <a:sym typeface="Wingdings" panose="05000000000000000000" pitchFamily="2" charset="2"/>
              </a:rPr>
              <a:t>TF-IDF turns text into a vector of meaningful numbers, in which important words get higher value, and common words get a lower value, giving logistic regression clean, weighted inputs</a:t>
            </a:r>
          </a:p>
          <a:p>
            <a:r>
              <a:rPr lang="en-US" dirty="0">
                <a:sym typeface="Wingdings" panose="05000000000000000000" pitchFamily="2" charset="2"/>
              </a:rPr>
              <a:t>Logistic regression works well with sparse matrices(i.e. mostly zeroes in the matrix) which is what TF-IDF gives it. So it efficiently learns which words indicate strongly whether an article is fake or real</a:t>
            </a:r>
          </a:p>
          <a:p>
            <a:r>
              <a:rPr lang="en-US" dirty="0">
                <a:sym typeface="Wingdings" panose="05000000000000000000" pitchFamily="2" charset="2"/>
              </a:rPr>
              <a:t> Logistic regression trains very quickly, making it work well for website deployment and makes it easy for computers without GPUs to run the program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96349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Frontend (React Application)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Developed using React and Tailwind CSS</a:t>
            </a:r>
          </a:p>
          <a:p>
            <a:pPr>
              <a:spcAft>
                <a:spcPts val="500"/>
              </a:spcAft>
              <a:defRPr sz="2000"/>
            </a:pPr>
            <a:r>
              <a:t>• Connects to Flask backend for real-time predictions</a:t>
            </a:r>
          </a:p>
          <a:p>
            <a:pPr>
              <a:spcAft>
                <a:spcPts val="500"/>
              </a:spcAft>
              <a:defRPr sz="2000"/>
            </a:pPr>
            <a:r>
              <a:t>• Displays live model metrics (accuracy, F1-score, etc.)</a:t>
            </a:r>
          </a:p>
          <a:p>
            <a:pPr>
              <a:spcAft>
                <a:spcPts val="500"/>
              </a:spcAft>
              <a:defRPr sz="2000"/>
            </a:pPr>
            <a:r>
              <a:t>• Interactive design with example news articles and visual confidence bars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rPr dirty="0"/>
              <a:t>System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73327"/>
            <a:ext cx="8229600" cy="4525963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inputs news text on the frontend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endParaRPr lang="en-IN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sent to Flask backend via POST request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cleaned and transformed using TF-IDF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endParaRPr lang="en-IN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 model predicts authenticity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endParaRPr lang="en-IN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 displays result with confidence levels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705F5EF0-10CA-B82E-C62D-1C66A66AEBBD}"/>
              </a:ext>
            </a:extLst>
          </p:cNvPr>
          <p:cNvSpPr/>
          <p:nvPr/>
        </p:nvSpPr>
        <p:spPr>
          <a:xfrm>
            <a:off x="4311445" y="2146513"/>
            <a:ext cx="442452" cy="21631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1B70830B-C1EB-219C-B081-212C8CB440F8}"/>
              </a:ext>
            </a:extLst>
          </p:cNvPr>
          <p:cNvSpPr/>
          <p:nvPr/>
        </p:nvSpPr>
        <p:spPr>
          <a:xfrm>
            <a:off x="4311445" y="3177716"/>
            <a:ext cx="442452" cy="21631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60B72F4F-2068-50B6-F00B-D86BD684A16F}"/>
              </a:ext>
            </a:extLst>
          </p:cNvPr>
          <p:cNvSpPr/>
          <p:nvPr/>
        </p:nvSpPr>
        <p:spPr>
          <a:xfrm>
            <a:off x="4291780" y="4987854"/>
            <a:ext cx="442452" cy="21631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EE862FF5-8828-5415-ED6E-30CF249E605D}"/>
              </a:ext>
            </a:extLst>
          </p:cNvPr>
          <p:cNvSpPr/>
          <p:nvPr/>
        </p:nvSpPr>
        <p:spPr>
          <a:xfrm>
            <a:off x="4311445" y="4092729"/>
            <a:ext cx="442452" cy="21631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7142" y="2807208"/>
            <a:ext cx="7772400" cy="4050792"/>
          </a:xfrm>
        </p:spPr>
        <p:txBody>
          <a:bodyPr/>
          <a:lstStyle/>
          <a:p>
            <a:endParaRPr dirty="0"/>
          </a:p>
          <a:p>
            <a:pPr>
              <a:spcAft>
                <a:spcPts val="500"/>
              </a:spcAft>
              <a:defRPr sz="2000"/>
            </a:pPr>
            <a:r>
              <a:rPr sz="2500" dirty="0"/>
              <a:t>🔹 Backend: Python, Flask, Pandas, Scikit-learn</a:t>
            </a:r>
          </a:p>
          <a:p>
            <a:pPr>
              <a:spcAft>
                <a:spcPts val="500"/>
              </a:spcAft>
              <a:defRPr sz="2000"/>
            </a:pPr>
            <a:r>
              <a:rPr sz="2500" dirty="0"/>
              <a:t>🔹 Frontend: React.js, Tailwind CSS, Babel</a:t>
            </a:r>
          </a:p>
          <a:p>
            <a:pPr>
              <a:spcAft>
                <a:spcPts val="500"/>
              </a:spcAft>
              <a:defRPr sz="2000"/>
            </a:pPr>
            <a:r>
              <a:rPr sz="2500" dirty="0"/>
              <a:t>🔹 Model Storage: Pickle</a:t>
            </a:r>
          </a:p>
          <a:p>
            <a:pPr>
              <a:spcAft>
                <a:spcPts val="500"/>
              </a:spcAft>
              <a:defRPr sz="2000"/>
            </a:pPr>
            <a:r>
              <a:rPr sz="2500" dirty="0"/>
              <a:t>🔹 Communication: RESTful APIs with JSON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6E83E-7DBD-7546-B95B-155EBE450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CC"/>
                </a:solidFill>
              </a:rPr>
              <a:t>Test set distribution</a:t>
            </a:r>
            <a:endParaRPr lang="en-IN" dirty="0">
              <a:solidFill>
                <a:srgbClr val="0000CC"/>
              </a:solidFill>
            </a:endParaRPr>
          </a:p>
        </p:txBody>
      </p:sp>
      <p:pic>
        <p:nvPicPr>
          <p:cNvPr id="5" name="Content Placeholder 4" descr="A close-up of a graph&#10;&#10;AI-generated content may be incorrect.">
            <a:extLst>
              <a:ext uri="{FF2B5EF4-FFF2-40B4-BE49-F238E27FC236}">
                <a16:creationId xmlns:a16="http://schemas.microsoft.com/office/drawing/2014/main" id="{0E4B6DB6-4C9C-61CB-A49B-B26987C9DF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58605" t="56439" r="3425" b="3837"/>
          <a:stretch>
            <a:fillRect/>
          </a:stretch>
        </p:blipFill>
        <p:spPr>
          <a:xfrm>
            <a:off x="1907286" y="2550489"/>
            <a:ext cx="5329428" cy="2956560"/>
          </a:xfrm>
        </p:spPr>
      </p:pic>
    </p:spTree>
    <p:extLst>
      <p:ext uri="{BB962C8B-B14F-4D97-AF65-F5344CB8AC3E}">
        <p14:creationId xmlns:p14="http://schemas.microsoft.com/office/powerpoint/2010/main" val="7675820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" y="0"/>
            <a:ext cx="7772400" cy="890016"/>
          </a:xfrm>
        </p:spPr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rPr dirty="0"/>
              <a:t>Model Results &amp; Performance</a:t>
            </a:r>
          </a:p>
        </p:txBody>
      </p:sp>
      <p:pic>
        <p:nvPicPr>
          <p:cNvPr id="5" name="Picture 4" descr="A group of graphs and charts&#10;&#10;AI-generated content may be incorrect.">
            <a:extLst>
              <a:ext uri="{FF2B5EF4-FFF2-40B4-BE49-F238E27FC236}">
                <a16:creationId xmlns:a16="http://schemas.microsoft.com/office/drawing/2014/main" id="{29C6EE1C-F9A8-15E7-D336-75C88C81A4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7500" b="48421"/>
          <a:stretch>
            <a:fillRect/>
          </a:stretch>
        </p:blipFill>
        <p:spPr>
          <a:xfrm>
            <a:off x="2042159" y="685800"/>
            <a:ext cx="5273041" cy="374854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543171C-191F-03DC-244D-B2C8DE4DA763}"/>
              </a:ext>
            </a:extLst>
          </p:cNvPr>
          <p:cNvSpPr txBox="1"/>
          <p:nvPr/>
        </p:nvSpPr>
        <p:spPr>
          <a:xfrm>
            <a:off x="160020" y="5033133"/>
            <a:ext cx="81910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ym typeface="Wingdings" panose="05000000000000000000" pitchFamily="2" charset="2"/>
              </a:rPr>
              <a:t>The model showed a very low rate of false positives and false negatives, as showcased by the confusion matrix given above</a:t>
            </a:r>
            <a:endParaRPr lang="en-IN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232DA8E-DE5D-D983-1D35-2AB93CAEB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967" y="233681"/>
            <a:ext cx="8872033" cy="34442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909A1C4-2781-E4B7-30A2-D7E72BD4D94B}"/>
              </a:ext>
            </a:extLst>
          </p:cNvPr>
          <p:cNvSpPr txBox="1"/>
          <p:nvPr/>
        </p:nvSpPr>
        <p:spPr>
          <a:xfrm>
            <a:off x="619760" y="3800168"/>
            <a:ext cx="790448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ym typeface="Wingdings" panose="05000000000000000000" pitchFamily="2" charset="2"/>
              </a:rPr>
              <a:t>Accuracy: It is measuring the percentage of total correct predictions</a:t>
            </a:r>
          </a:p>
          <a:p>
            <a:r>
              <a:rPr lang="en-US" dirty="0">
                <a:sym typeface="Wingdings" panose="05000000000000000000" pitchFamily="2" charset="2"/>
              </a:rPr>
              <a:t>Precision: It showcases how many fake articles were correctly predicted as fake by the model, tells us how often false positives occur</a:t>
            </a:r>
          </a:p>
          <a:p>
            <a:r>
              <a:rPr lang="en-US" dirty="0">
                <a:sym typeface="Wingdings" panose="05000000000000000000" pitchFamily="2" charset="2"/>
              </a:rPr>
              <a:t>Recall: It shows how many actual fake articles were detected successfully, tells us how often false negatives occur</a:t>
            </a:r>
          </a:p>
          <a:p>
            <a:r>
              <a:rPr lang="en-US" dirty="0">
                <a:sym typeface="Wingdings" panose="05000000000000000000" pitchFamily="2" charset="2"/>
              </a:rPr>
              <a:t>F1 score: it is the harmonic mean of precision and recall, gives a overall metric to how often the model makes a mistake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In this model, we see all the metrics are above 95%, so it can be trusted to make the right predictions, though mistakes are still possible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904019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endParaRPr dirty="0"/>
          </a:p>
          <a:p>
            <a:pPr>
              <a:spcAft>
                <a:spcPts val="500"/>
              </a:spcAft>
              <a:defRPr sz="2000"/>
            </a:pPr>
            <a:r>
              <a:rPr sz="3000" dirty="0"/>
              <a:t>Combines Machine Learning and Web Development effectively</a:t>
            </a:r>
          </a:p>
          <a:p>
            <a:pPr>
              <a:spcAft>
                <a:spcPts val="500"/>
              </a:spcAft>
              <a:defRPr sz="2000"/>
            </a:pPr>
            <a:r>
              <a:rPr sz="3000" dirty="0"/>
              <a:t>Provides real-time AI-powered verification of news authenticity</a:t>
            </a:r>
          </a:p>
          <a:p>
            <a:pPr>
              <a:spcAft>
                <a:spcPts val="500"/>
              </a:spcAft>
              <a:defRPr sz="2000"/>
            </a:pPr>
            <a:r>
              <a:rPr sz="3000" dirty="0"/>
              <a:t> Demonstrates full-stack integration of Flask and React</a:t>
            </a:r>
          </a:p>
          <a:p>
            <a:pPr>
              <a:spcAft>
                <a:spcPts val="500"/>
              </a:spcAft>
              <a:defRPr sz="2000"/>
            </a:pPr>
            <a:r>
              <a:rPr sz="3000" dirty="0"/>
              <a:t>Scalable solution for combating misinformation online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152</TotalTime>
  <Words>1026</Words>
  <Application>Microsoft Office PowerPoint</Application>
  <PresentationFormat>On-screen Show (4:3)</PresentationFormat>
  <Paragraphs>98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Rockwell</vt:lpstr>
      <vt:lpstr>Rockwell Condensed</vt:lpstr>
      <vt:lpstr>Times New Roman</vt:lpstr>
      <vt:lpstr>Wingdings</vt:lpstr>
      <vt:lpstr>Wood Type</vt:lpstr>
      <vt:lpstr>Fake News Detection System</vt:lpstr>
      <vt:lpstr>Project Overview</vt:lpstr>
      <vt:lpstr>Problem Statement</vt:lpstr>
      <vt:lpstr>Dataset used for training</vt:lpstr>
      <vt:lpstr>PowerPoint Presentation</vt:lpstr>
      <vt:lpstr>DETAILS OF ARTICLES IN DATASET</vt:lpstr>
      <vt:lpstr>PowerPoint Presentation</vt:lpstr>
      <vt:lpstr>PowerPoint Presentation</vt:lpstr>
      <vt:lpstr>Backend (Flask Application)</vt:lpstr>
      <vt:lpstr>Machine Learning Model</vt:lpstr>
      <vt:lpstr>WHY USE TF-IDF AND LOGISTIC REGRESSION?</vt:lpstr>
      <vt:lpstr>PowerPoint Presentation</vt:lpstr>
      <vt:lpstr>Frontend (React Application)</vt:lpstr>
      <vt:lpstr>System Workflow</vt:lpstr>
      <vt:lpstr>Technologies Used</vt:lpstr>
      <vt:lpstr>Test set distribution</vt:lpstr>
      <vt:lpstr>Model Results &amp; Performance</vt:lpstr>
      <vt:lpstr>PowerPoint Presentation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arundhati bhattacharrya</cp:lastModifiedBy>
  <cp:revision>8</cp:revision>
  <dcterms:created xsi:type="dcterms:W3CDTF">2013-01-27T09:14:16Z</dcterms:created>
  <dcterms:modified xsi:type="dcterms:W3CDTF">2025-11-16T15:06:41Z</dcterms:modified>
  <cp:category/>
</cp:coreProperties>
</file>