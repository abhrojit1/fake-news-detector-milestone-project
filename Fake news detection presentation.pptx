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3"/>
    <p:sldId id="258" r:id="rId4"/>
    <p:sldId id="269" r:id="rId5"/>
    <p:sldId id="270" r:id="rId6"/>
    <p:sldId id="273" r:id="rId7"/>
    <p:sldId id="275" r:id="rId8"/>
    <p:sldId id="276" r:id="rId9"/>
    <p:sldId id="259" r:id="rId10"/>
    <p:sldId id="260" r:id="rId11"/>
    <p:sldId id="277" r:id="rId12"/>
    <p:sldId id="278" r:id="rId13"/>
    <p:sldId id="261" r:id="rId14"/>
    <p:sldId id="262" r:id="rId15"/>
    <p:sldId id="264" r:id="rId16"/>
    <p:sldId id="272" r:id="rId17"/>
    <p:sldId id="265" r:id="rId18"/>
    <p:sldId id="274" r:id="rId19"/>
    <p:sldId id="279" r:id="rId20"/>
    <p:sldId id="267"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a:srgbClr val="0000CC"/>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p:scale>
          <a:sx n="125" d="100"/>
          <a:sy n="125" d="100"/>
        </p:scale>
        <p:origin x="226" y="7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4.png"/><Relationship Id="rId1" Type="http://schemas.openxmlformats.org/officeDocument/2006/relationships/slideMaster" Target="../slideMasters/slideMaster1.xml"/><Relationship Id="rId5" Type="http://schemas.microsoft.com/office/2007/relationships/hdphoto" Target="../media/hdphoto1.wdp"/><Relationship Id="rId4"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685800" y="1346947"/>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6200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685800" y="4282763"/>
            <a:ext cx="7772400" cy="80683"/>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175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685800" y="1484779"/>
            <a:ext cx="7772400" cy="274320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grpSp>
        <p:nvGrpSpPr>
          <p:cNvPr id="10" name="Group 9"/>
          <p:cNvGrpSpPr>
            <a:grpSpLocks noChangeAspect="1"/>
          </p:cNvGrpSpPr>
          <p:nvPr/>
        </p:nvGrpSpPr>
        <p:grpSpPr>
          <a:xfrm>
            <a:off x="7234780" y="4107023"/>
            <a:ext cx="914400" cy="914400"/>
            <a:chOff x="9685338" y="4460675"/>
            <a:chExt cx="1080904" cy="1080902"/>
          </a:xfrm>
        </p:grpSpPr>
        <p:sp>
          <p:nvSpPr>
            <p:cNvPr id="11" name="Oval 10"/>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2" name="Oval 11"/>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2" name="Title 1"/>
          <p:cNvSpPr>
            <a:spLocks noGrp="1"/>
          </p:cNvSpPr>
          <p:nvPr>
            <p:ph type="ctrTitle"/>
          </p:nvPr>
        </p:nvSpPr>
        <p:spPr>
          <a:xfrm>
            <a:off x="788670" y="1432223"/>
            <a:ext cx="7593330" cy="3035808"/>
          </a:xfrm>
        </p:spPr>
        <p:txBody>
          <a:bodyPr anchor="ctr">
            <a:noAutofit/>
          </a:bodyPr>
          <a:lstStyle>
            <a:lvl1pPr algn="l">
              <a:lnSpc>
                <a:spcPct val="80000"/>
              </a:lnSpc>
              <a:defRPr sz="6400" b="0" cap="all" baseline="0">
                <a:blipFill dpi="0" rotWithShape="1">
                  <a:blip r:embed="rId4"/>
                  <a:srcRect/>
                  <a:tile tx="6350" ty="-127000" sx="65000" sy="64000" flip="none" algn="tl"/>
                </a:blipFill>
              </a:defRPr>
            </a:lvl1pPr>
          </a:lstStyle>
          <a:p>
            <a:r>
              <a:rPr lang="en-US"/>
              <a:t>Click to edit Master title style</a:t>
            </a:r>
            <a:endParaRPr lang="en-US" dirty="0"/>
          </a:p>
        </p:txBody>
      </p:sp>
      <p:sp>
        <p:nvSpPr>
          <p:cNvPr id="3" name="Subtitle 2"/>
          <p:cNvSpPr>
            <a:spLocks noGrp="1"/>
          </p:cNvSpPr>
          <p:nvPr>
            <p:ph type="subTitle" idx="1"/>
          </p:nvPr>
        </p:nvSpPr>
        <p:spPr>
          <a:xfrm>
            <a:off x="802386" y="4389120"/>
            <a:ext cx="5918454" cy="1069848"/>
          </a:xfrm>
        </p:spPr>
        <p:txBody>
          <a:bodyPr>
            <a:normAutofit/>
          </a:bodyPr>
          <a:lstStyle>
            <a:lvl1pPr marL="0" indent="0" algn="l">
              <a:buNone/>
              <a:defRPr sz="1800" b="0">
                <a:solidFill>
                  <a:schemeClr val="tx1"/>
                </a:solidFill>
              </a:defRPr>
            </a:lvl1pPr>
            <a:lvl2pPr marL="457200" indent="0" algn="ctr">
              <a:buNone/>
              <a:defRPr sz="1800"/>
            </a:lvl2pPr>
            <a:lvl3pPr marL="914400" indent="0" algn="ctr">
              <a:buNone/>
              <a:defRPr sz="1800"/>
            </a:lvl3pPr>
            <a:lvl4pPr marL="1371600" indent="0" algn="ctr">
              <a:buNone/>
              <a:defRPr sz="1800"/>
            </a:lvl4pPr>
            <a:lvl5pPr marL="1828800" indent="0" algn="ctr">
              <a:buNone/>
              <a:defRPr sz="1800"/>
            </a:lvl5pPr>
            <a:lvl6pPr marL="2286000" indent="0" algn="ctr">
              <a:buNone/>
              <a:defRPr sz="1800"/>
            </a:lvl6pPr>
            <a:lvl7pPr marL="2743200" indent="0" algn="ctr">
              <a:buNone/>
              <a:defRPr sz="1800"/>
            </a:lvl7pPr>
            <a:lvl8pPr marL="3200400" indent="0" algn="ctr">
              <a:buNone/>
              <a:defRPr sz="1800"/>
            </a:lvl8pPr>
            <a:lvl9pPr marL="3657600" indent="0" algn="ctr">
              <a:buNone/>
              <a:defRPr sz="18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11/23/2025</a:t>
            </a:fld>
            <a:endParaRPr lang="en-US"/>
          </a:p>
        </p:txBody>
      </p:sp>
      <p:sp>
        <p:nvSpPr>
          <p:cNvPr id="5" name="Footer Placeholder 4"/>
          <p:cNvSpPr>
            <a:spLocks noGrp="1"/>
          </p:cNvSpPr>
          <p:nvPr>
            <p:ph type="ftr" sz="quarter" idx="11"/>
          </p:nvPr>
        </p:nvSpPr>
        <p:spPr>
          <a:xfrm>
            <a:off x="812805" y="6272785"/>
            <a:ext cx="4745736" cy="365125"/>
          </a:xfrm>
        </p:spPr>
        <p:txBody>
          <a:bodyPr/>
          <a:lstStyle/>
          <a:p>
            <a:endParaRPr lang="en-US"/>
          </a:p>
        </p:txBody>
      </p:sp>
      <p:sp>
        <p:nvSpPr>
          <p:cNvPr id="6" name="Slide Number Placeholder 5"/>
          <p:cNvSpPr>
            <a:spLocks noGrp="1"/>
          </p:cNvSpPr>
          <p:nvPr>
            <p:ph type="sldNum" sz="quarter" idx="12"/>
          </p:nvPr>
        </p:nvSpPr>
        <p:spPr>
          <a:xfrm>
            <a:off x="7244280" y="4227195"/>
            <a:ext cx="895401" cy="640080"/>
          </a:xfrm>
        </p:spPr>
        <p:txBody>
          <a:bodyPr/>
          <a:lstStyle>
            <a:lvl1pPr>
              <a:defRPr sz="2800" b="1"/>
            </a:lvl1pPr>
          </a:lstStyle>
          <a:p>
            <a:fld id="{C1FF6DA9-008F-8B48-92A6-B652298478BF}" type="slidenum">
              <a:rPr lang="en-US" smtClean="0"/>
              <a:t>‹#›</a:t>
            </a:fld>
            <a:endParaRPr lang="en-US"/>
          </a:p>
        </p:txBody>
      </p:sp>
    </p:spTree>
    <p:extLst>
      <p:ext uri="{BB962C8B-B14F-4D97-AF65-F5344CB8AC3E}">
        <p14:creationId xmlns:p14="http://schemas.microsoft.com/office/powerpoint/2010/main" val="35318484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45355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7" name="Rectangle 6"/>
          <p:cNvSpPr/>
          <p:nvPr/>
        </p:nvSpPr>
        <p:spPr>
          <a:xfrm>
            <a:off x="0" y="4917989"/>
            <a:ext cx="9144000" cy="1940010"/>
          </a:xfrm>
          <a:prstGeom prst="rect">
            <a:avLst/>
          </a:prstGeom>
          <a:blipFill dpi="0" rotWithShape="1">
            <a:blip r:embed="rId2">
              <a:alphaModFix amt="8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625346" y="1225296"/>
            <a:ext cx="6960870" cy="3520440"/>
          </a:xfrm>
        </p:spPr>
        <p:txBody>
          <a:bodyPr anchor="ctr">
            <a:normAutofit/>
          </a:bodyPr>
          <a:lstStyle>
            <a:lvl1pPr>
              <a:lnSpc>
                <a:spcPct val="80000"/>
              </a:lnSpc>
              <a:defRPr sz="6400" b="0"/>
            </a:lvl1pPr>
          </a:lstStyle>
          <a:p>
            <a:r>
              <a:rPr lang="en-US"/>
              <a:t>Click to edit Master title style</a:t>
            </a:r>
            <a:endParaRPr lang="en-US" dirty="0"/>
          </a:p>
        </p:txBody>
      </p:sp>
      <p:sp>
        <p:nvSpPr>
          <p:cNvPr id="3" name="Text Placeholder 2"/>
          <p:cNvSpPr>
            <a:spLocks noGrp="1"/>
          </p:cNvSpPr>
          <p:nvPr>
            <p:ph type="body" idx="1"/>
          </p:nvPr>
        </p:nvSpPr>
        <p:spPr>
          <a:xfrm>
            <a:off x="1624330" y="5020056"/>
            <a:ext cx="6789420" cy="1066800"/>
          </a:xfrm>
        </p:spPr>
        <p:txBody>
          <a:bodyPr anchor="t">
            <a:normAutofit/>
          </a:bodyPr>
          <a:lstStyle>
            <a:lvl1pPr marL="0" indent="0">
              <a:buNone/>
              <a:defRPr sz="1800" b="0">
                <a:solidFill>
                  <a:schemeClr val="accent1">
                    <a:lumMod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a:xfrm>
            <a:off x="6445251" y="6272785"/>
            <a:ext cx="1983232" cy="365125"/>
          </a:xfrm>
        </p:spPr>
        <p:txBody>
          <a:bodyPr/>
          <a:lstStyle>
            <a:lvl1pPr>
              <a:defRPr>
                <a:solidFill>
                  <a:schemeClr val="accent1">
                    <a:lumMod val="50000"/>
                  </a:schemeClr>
                </a:solidFill>
              </a:defRPr>
            </a:lvl1pPr>
          </a:lstStyle>
          <a:p>
            <a:fld id="{5BCAD085-E8A6-8845-BD4E-CB4CCA059FC4}" type="datetimeFigureOut">
              <a:rPr lang="en-US" smtClean="0"/>
              <a:t>11/23/2025</a:t>
            </a:fld>
            <a:endParaRPr lang="en-US"/>
          </a:p>
        </p:txBody>
      </p:sp>
      <p:sp>
        <p:nvSpPr>
          <p:cNvPr id="5" name="Footer Placeholder 4"/>
          <p:cNvSpPr>
            <a:spLocks noGrp="1"/>
          </p:cNvSpPr>
          <p:nvPr>
            <p:ph type="ftr" sz="quarter" idx="11"/>
          </p:nvPr>
        </p:nvSpPr>
        <p:spPr>
          <a:xfrm>
            <a:off x="1636099" y="6272784"/>
            <a:ext cx="4745736" cy="365125"/>
          </a:xfrm>
        </p:spPr>
        <p:txBody>
          <a:bodyPr/>
          <a:lstStyle>
            <a:lvl1pPr>
              <a:defRPr>
                <a:solidFill>
                  <a:schemeClr val="accent1">
                    <a:lumMod val="50000"/>
                  </a:schemeClr>
                </a:solidFill>
              </a:defRPr>
            </a:lvl1pPr>
          </a:lstStyle>
          <a:p>
            <a:endParaRPr lang="en-US"/>
          </a:p>
        </p:txBody>
      </p:sp>
      <p:grpSp>
        <p:nvGrpSpPr>
          <p:cNvPr id="8" name="Group 7"/>
          <p:cNvGrpSpPr>
            <a:grpSpLocks noChangeAspect="1"/>
          </p:cNvGrpSpPr>
          <p:nvPr/>
        </p:nvGrpSpPr>
        <p:grpSpPr>
          <a:xfrm>
            <a:off x="633862" y="2430623"/>
            <a:ext cx="914400" cy="914400"/>
            <a:chOff x="9685338" y="4460675"/>
            <a:chExt cx="1080904" cy="1080902"/>
          </a:xfrm>
        </p:grpSpPr>
        <p:sp>
          <p:nvSpPr>
            <p:cNvPr id="9" name="Oval 8"/>
            <p:cNvSpPr/>
            <p:nvPr/>
          </p:nvSpPr>
          <p:spPr>
            <a:xfrm>
              <a:off x="9685338" y="4460675"/>
              <a:ext cx="1080904" cy="108090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Layer>
                    </a14:imgProps>
                  </a:ext>
                </a:extLst>
              </a:blip>
              <a:srcRect/>
              <a:tile tx="0" ty="0" sx="85000" sy="85000" flip="none" algn="tl"/>
            </a:blipFill>
            <a:ln w="25400" cap="flat" cmpd="sng" algn="ctr">
              <a:noFill/>
              <a:prstDash val="solid"/>
            </a:ln>
            <a:effectLst/>
          </p:spPr>
        </p:sp>
        <p:sp>
          <p:nvSpPr>
            <p:cNvPr id="10" name="Oval 9"/>
            <p:cNvSpPr/>
            <p:nvPr/>
          </p:nvSpPr>
          <p:spPr>
            <a:xfrm>
              <a:off x="9793429" y="4568765"/>
              <a:ext cx="864723" cy="864722"/>
            </a:xfrm>
            <a:prstGeom prst="ellipse">
              <a:avLst/>
            </a:prstGeom>
            <a:noFill/>
            <a:ln w="25400" cap="flat" cmpd="sng" algn="ctr">
              <a:solidFill>
                <a:sysClr val="window" lastClr="FFFFFF"/>
              </a:solidFill>
              <a:prstDash val="solid"/>
            </a:ln>
            <a:effectLst/>
          </p:spPr>
        </p:sp>
      </p:grpSp>
      <p:sp>
        <p:nvSpPr>
          <p:cNvPr id="6" name="Slide Number Placeholder 5"/>
          <p:cNvSpPr>
            <a:spLocks noGrp="1"/>
          </p:cNvSpPr>
          <p:nvPr>
            <p:ph type="sldNum" sz="quarter" idx="12"/>
          </p:nvPr>
        </p:nvSpPr>
        <p:spPr>
          <a:xfrm>
            <a:off x="645450" y="2508607"/>
            <a:ext cx="891224" cy="720332"/>
          </a:xfrm>
        </p:spPr>
        <p:txBody>
          <a:bodyPr/>
          <a:lstStyle>
            <a:lvl1pPr>
              <a:defRPr sz="2800"/>
            </a:lvl1pPr>
          </a:lstStyle>
          <a:p>
            <a:fld id="{C1FF6DA9-008F-8B48-92A6-B652298478BF}" type="slidenum">
              <a:rPr lang="en-US" smtClean="0"/>
              <a:t>‹#›</a:t>
            </a:fld>
            <a:endParaRPr lang="en-US"/>
          </a:p>
        </p:txBody>
      </p:sp>
    </p:spTree>
    <p:extLst>
      <p:ext uri="{BB962C8B-B14F-4D97-AF65-F5344CB8AC3E}">
        <p14:creationId xmlns:p14="http://schemas.microsoft.com/office/powerpoint/2010/main" val="109672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5800"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792218" y="2194560"/>
            <a:ext cx="3657600" cy="39776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11/23/2025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81167188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85800"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5800"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820793" y="2048256"/>
            <a:ext cx="3657600" cy="640080"/>
          </a:xfrm>
        </p:spPr>
        <p:txBody>
          <a:bodyPr anchor="ctr">
            <a:normAutofit/>
          </a:bodyPr>
          <a:lstStyle>
            <a:lvl1pPr marL="0" indent="0">
              <a:buNone/>
              <a:defRPr sz="2000" b="1">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820793" y="2743200"/>
            <a:ext cx="3657600" cy="3291840"/>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913885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6" name="Title 5"/>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lvl1pPr>
              <a:defRPr>
                <a:solidFill>
                  <a:schemeClr val="accent1">
                    <a:lumMod val="50000"/>
                  </a:schemeClr>
                </a:solidFill>
              </a:defRPr>
            </a:lvl1pPr>
          </a:lstStyle>
          <a:p>
            <a:fld id="{5BCAD085-E8A6-8845-BD4E-CB4CCA059FC4}" type="datetimeFigureOut">
              <a:rPr lang="en-US" smtClean="0"/>
              <a:t>11/23/2025</a:t>
            </a:fld>
            <a:endParaRPr lang="en-US"/>
          </a:p>
        </p:txBody>
      </p:sp>
      <p:sp>
        <p:nvSpPr>
          <p:cNvPr id="4" name="Footer Placeholder 3"/>
          <p:cNvSpPr>
            <a:spLocks noGrp="1"/>
          </p:cNvSpPr>
          <p:nvPr>
            <p:ph type="ftr" sz="quarter" idx="11"/>
          </p:nvPr>
        </p:nvSpPr>
        <p:spPr/>
        <p:txBody>
          <a:bodyPr/>
          <a:lstStyle>
            <a:lvl1pPr>
              <a:defRPr>
                <a:solidFill>
                  <a:schemeClr val="accent1">
                    <a:lumMod val="50000"/>
                  </a:schemeClr>
                </a:solidFill>
              </a:defRPr>
            </a:lvl1p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339403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11/23/2025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7240321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a:t>Click to edit Master title style</a:t>
            </a:r>
            <a:endParaRPr lang="en-US" dirty="0"/>
          </a:p>
        </p:txBody>
      </p:sp>
      <p:sp>
        <p:nvSpPr>
          <p:cNvPr id="3" name="Content Placeholder 2"/>
          <p:cNvSpPr>
            <a:spLocks noGrp="1"/>
          </p:cNvSpPr>
          <p:nvPr>
            <p:ph idx="1"/>
          </p:nvPr>
        </p:nvSpPr>
        <p:spPr>
          <a:xfrm>
            <a:off x="628650" y="685800"/>
            <a:ext cx="5033772" cy="5020056"/>
          </a:xfrm>
        </p:spPr>
        <p:txBody>
          <a:bodyPr/>
          <a:lstStyle>
            <a:lvl1pPr>
              <a:defRPr sz="2000"/>
            </a:lvl1pPr>
            <a:lvl2pPr>
              <a:defRPr sz="1800"/>
            </a:lvl2pPr>
            <a:lvl3pPr>
              <a:defRPr sz="16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9" name="Date Placeholder 8"/>
          <p:cNvSpPr>
            <a:spLocks noGrp="1"/>
          </p:cNvSpPr>
          <p:nvPr>
            <p:ph type="dt" sz="half" idx="10"/>
          </p:nvPr>
        </p:nvSpPr>
        <p:spPr/>
        <p:txBody>
          <a:bodyPr/>
          <a:lstStyle/>
          <a:p>
            <a:fld id="{5BCAD085-E8A6-8845-BD4E-CB4CCA059FC4}" type="datetimeFigureOut">
              <a:rPr lang="en-US" smtClean="0"/>
              <a:t>11/23/2025</a:t>
            </a:fld>
            <a:endParaRPr lang="en-US"/>
          </a:p>
        </p:txBody>
      </p:sp>
      <p:sp>
        <p:nvSpPr>
          <p:cNvPr id="10" name="Footer Placeholder 9"/>
          <p:cNvSpPr>
            <a:spLocks noGrp="1"/>
          </p:cNvSpPr>
          <p:nvPr>
            <p:ph type="ftr" sz="quarter" idx="11"/>
          </p:nvPr>
        </p:nvSpPr>
        <p:spPr/>
        <p:txBody>
          <a:bodyPr/>
          <a:lstStyle/>
          <a:p>
            <a:endParaRPr lang="en-US"/>
          </a:p>
        </p:txBody>
      </p:sp>
      <p:sp>
        <p:nvSpPr>
          <p:cNvPr id="11" name="Slide Number Placeholder 10"/>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921974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11" name="Rectangle 10"/>
          <p:cNvSpPr/>
          <p:nvPr/>
        </p:nvSpPr>
        <p:spPr>
          <a:xfrm>
            <a:off x="6227806" y="1"/>
            <a:ext cx="2916194" cy="6857999"/>
          </a:xfrm>
          <a:prstGeom prst="rect">
            <a:avLst/>
          </a:prstGeom>
          <a:blipFill dpi="0" rotWithShape="1">
            <a:blip r:embed="rId2">
              <a:alphaModFix amt="60000"/>
              <a:lum bright="70000" contrast="-70000"/>
              <a:extLst>
                <a:ext uri="{BEBA8EAE-BF5A-486C-A8C5-ECC9F3942E4B}">
                  <a14:imgProps xmlns:a14="http://schemas.microsoft.com/office/drawing/2010/main">
                    <a14:imgLayer r:embed="rId3">
                      <a14:imgEffect>
                        <a14:sharpenSoften amount="61000"/>
                      </a14:imgEffect>
                    </a14:imgLayer>
                  </a14:imgProps>
                </a:ext>
                <a:ext uri="{28A0092B-C50C-407E-A947-70E740481C1C}">
                  <a14:useLocalDpi xmlns:a14="http://schemas.microsoft.com/office/drawing/2010/main" val="0"/>
                </a:ext>
              </a:extLst>
            </a:blip>
            <a:srcRect/>
            <a:tile tx="0" ty="-704850" sx="92000" sy="89000" flip="xy" algn="ctr"/>
          </a:blip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412230" y="685800"/>
            <a:ext cx="2400300" cy="1737360"/>
          </a:xfrm>
        </p:spPr>
        <p:txBody>
          <a:bodyPr anchor="b">
            <a:normAutofit/>
          </a:bodyPr>
          <a:lstStyle>
            <a:lvl1pPr>
              <a:defRPr sz="28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0" y="0"/>
            <a:ext cx="6227805" cy="6858000"/>
          </a:xfrm>
          <a:solidFill>
            <a:schemeClr val="tx2">
              <a:lumMod val="20000"/>
              <a:lumOff val="80000"/>
            </a:schemeClr>
          </a:solidFill>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412230" y="2423160"/>
            <a:ext cx="2400300" cy="3291840"/>
          </a:xfrm>
        </p:spPr>
        <p:txBody>
          <a:bodyPr>
            <a:normAutofit/>
          </a:bodyPr>
          <a:lstStyle>
            <a:lvl1pPr marL="0" indent="0">
              <a:lnSpc>
                <a:spcPct val="100000"/>
              </a:lnSpc>
              <a:spcBef>
                <a:spcPts val="1000"/>
              </a:spcBef>
              <a:buNone/>
              <a:defRPr sz="1350">
                <a:solidFill>
                  <a:schemeClr val="accent1">
                    <a:lumMod val="50000"/>
                  </a:schemeClr>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grpSp>
        <p:nvGrpSpPr>
          <p:cNvPr id="12" name="Group 11"/>
          <p:cNvGrpSpPr/>
          <p:nvPr/>
        </p:nvGrpSpPr>
        <p:grpSpPr>
          <a:xfrm>
            <a:off x="8522664" y="6255258"/>
            <a:ext cx="393192" cy="393192"/>
            <a:chOff x="8532189" y="5068824"/>
            <a:chExt cx="393192" cy="393192"/>
          </a:xfrm>
        </p:grpSpPr>
        <p:sp>
          <p:nvSpPr>
            <p:cNvPr id="13" name="Oval 12"/>
            <p:cNvSpPr>
              <a:spLocks noChangeAspect="1"/>
            </p:cNvSpPr>
            <p:nvPr/>
          </p:nvSpPr>
          <p:spPr>
            <a:xfrm>
              <a:off x="8532189" y="5068824"/>
              <a:ext cx="393192" cy="393192"/>
            </a:xfrm>
            <a:prstGeom prst="ellipse">
              <a:avLst/>
            </a:prstGeom>
            <a:blipFill dpi="0" rotWithShape="1">
              <a:blip r:embed="rId4">
                <a:duotone>
                  <a:schemeClr val="accent1">
                    <a:shade val="45000"/>
                    <a:satMod val="135000"/>
                  </a:schemeClr>
                  <a:prstClr val="white"/>
                </a:duotone>
                <a:extLst>
                  <a:ext uri="{BEBA8EAE-BF5A-486C-A8C5-ECC9F3942E4B}">
                    <a14:imgProps xmlns:a14="http://schemas.microsoft.com/office/drawing/2010/main">
                      <a14:imgLayer r:embed="rId5">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14" name="Oval 13"/>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8" name="Date Placeholder 7"/>
          <p:cNvSpPr>
            <a:spLocks noGrp="1"/>
          </p:cNvSpPr>
          <p:nvPr>
            <p:ph type="dt" sz="half" idx="10"/>
          </p:nvPr>
        </p:nvSpPr>
        <p:spPr/>
        <p:txBody>
          <a:bodyPr/>
          <a:lstStyle/>
          <a:p>
            <a:fld id="{5BCAD085-E8A6-8845-BD4E-CB4CCA059FC4}" type="datetimeFigureOut">
              <a:rPr lang="en-US" smtClean="0"/>
              <a:t>11/23/2025</a:t>
            </a:fld>
            <a:endParaRPr lang="en-US"/>
          </a:p>
        </p:txBody>
      </p:sp>
      <p:sp>
        <p:nvSpPr>
          <p:cNvPr id="10" name="Slide Number Placeholder 9"/>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612167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0615543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533400"/>
            <a:ext cx="1914525" cy="5638800"/>
          </a:xfrm>
        </p:spPr>
        <p:txBody>
          <a:bodyPr vert="eaVert"/>
          <a:lstStyle>
            <a:lvl1pPr>
              <a:defRPr b="0"/>
            </a:lvl1pPr>
          </a:lstStyle>
          <a:p>
            <a:r>
              <a:rPr lang="en-US"/>
              <a:t>Click to edit Master title style</a:t>
            </a:r>
            <a:endParaRPr lang="en-US" dirty="0"/>
          </a:p>
        </p:txBody>
      </p:sp>
      <p:sp>
        <p:nvSpPr>
          <p:cNvPr id="3" name="Vertical Text Placeholder 2"/>
          <p:cNvSpPr>
            <a:spLocks noGrp="1"/>
          </p:cNvSpPr>
          <p:nvPr>
            <p:ph type="body" orient="vert" idx="1"/>
          </p:nvPr>
        </p:nvSpPr>
        <p:spPr>
          <a:xfrm>
            <a:off x="800100" y="533400"/>
            <a:ext cx="5629275" cy="56388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11/23/2025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445977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microsoft.com/office/2007/relationships/hdphoto" Target="../media/hdphoto1.wdp"/></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12" name="Group 11"/>
          <p:cNvGrpSpPr/>
          <p:nvPr/>
        </p:nvGrpSpPr>
        <p:grpSpPr>
          <a:xfrm>
            <a:off x="8522664" y="6255258"/>
            <a:ext cx="393192" cy="393192"/>
            <a:chOff x="8532189" y="5068824"/>
            <a:chExt cx="393192" cy="393192"/>
          </a:xfrm>
        </p:grpSpPr>
        <p:sp>
          <p:nvSpPr>
            <p:cNvPr id="8" name="Oval 7"/>
            <p:cNvSpPr>
              <a:spLocks noChangeAspect="1"/>
            </p:cNvSpPr>
            <p:nvPr/>
          </p:nvSpPr>
          <p:spPr>
            <a:xfrm>
              <a:off x="8532189" y="5068824"/>
              <a:ext cx="393192" cy="393192"/>
            </a:xfrm>
            <a:prstGeom prst="ellipse">
              <a:avLst/>
            </a:prstGeom>
            <a:blipFill dpi="0" rotWithShape="1">
              <a:blip r:embed="rId13">
                <a:duotone>
                  <a:schemeClr val="accent1">
                    <a:shade val="45000"/>
                    <a:satMod val="135000"/>
                  </a:schemeClr>
                  <a:prstClr val="white"/>
                </a:duotone>
                <a:extLst>
                  <a:ext uri="{BEBA8EAE-BF5A-486C-A8C5-ECC9F3942E4B}">
                    <a14:imgProps xmlns:a14="http://schemas.microsoft.com/office/drawing/2010/main">
                      <a14:imgLayer r:embed="rId14">
                        <a14:imgEffect>
                          <a14:saturation sat="95000"/>
                        </a14:imgEffect>
                        <a14:imgEffect>
                          <a14:brightnessContrast bright="-40000" contrast="20000"/>
                        </a14:imgEffect>
                      </a14:imgLayer>
                    </a14:imgProps>
                  </a:ext>
                </a:extLst>
              </a:blip>
              <a:srcRect/>
              <a:tile tx="50800" ty="0" sx="85000" sy="85000" flip="none" algn="tl"/>
            </a:blipFill>
            <a:ln w="25400" cap="flat" cmpd="sng" algn="ctr">
              <a:noFill/>
              <a:prstDash val="solid"/>
            </a:ln>
            <a:effectLst/>
          </p:spPr>
        </p:sp>
        <p:sp>
          <p:nvSpPr>
            <p:cNvPr id="9" name="Oval 8"/>
            <p:cNvSpPr>
              <a:spLocks noChangeAspect="1"/>
            </p:cNvSpPr>
            <p:nvPr/>
          </p:nvSpPr>
          <p:spPr>
            <a:xfrm>
              <a:off x="8568766" y="5105400"/>
              <a:ext cx="320039" cy="320040"/>
            </a:xfrm>
            <a:prstGeom prst="ellipse">
              <a:avLst/>
            </a:prstGeom>
            <a:noFill/>
            <a:ln w="12700" cap="flat" cmpd="sng" algn="ctr">
              <a:solidFill>
                <a:srgbClr val="FFFFFF"/>
              </a:solidFill>
              <a:prstDash val="solid"/>
            </a:ln>
            <a:effectLst/>
          </p:spPr>
        </p:sp>
      </p:grpSp>
      <p:sp>
        <p:nvSpPr>
          <p:cNvPr id="2" name="Title Placeholder 1"/>
          <p:cNvSpPr>
            <a:spLocks noGrp="1"/>
          </p:cNvSpPr>
          <p:nvPr>
            <p:ph type="title"/>
          </p:nvPr>
        </p:nvSpPr>
        <p:spPr>
          <a:xfrm>
            <a:off x="685800" y="484632"/>
            <a:ext cx="7772400" cy="1609344"/>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5800" y="2121408"/>
            <a:ext cx="7772400" cy="405079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5992368" y="6272785"/>
            <a:ext cx="2455164" cy="365125"/>
          </a:xfrm>
          <a:prstGeom prst="rect">
            <a:avLst/>
          </a:prstGeom>
        </p:spPr>
        <p:txBody>
          <a:bodyPr vert="horz" lIns="91440" tIns="45720" rIns="91440" bIns="45720" rtlCol="0" anchor="ctr"/>
          <a:lstStyle>
            <a:lvl1pPr algn="r">
              <a:defRPr sz="1000">
                <a:solidFill>
                  <a:schemeClr val="accent1">
                    <a:lumMod val="50000"/>
                  </a:schemeClr>
                </a:solidFill>
              </a:defRPr>
            </a:lvl1pPr>
          </a:lstStyle>
          <a:p>
            <a:fld id="{5BCAD085-E8A6-8845-BD4E-CB4CCA059FC4}" type="datetimeFigureOut">
              <a:rPr lang="en-US" smtClean="0"/>
              <a:t>11/23/2025</a:t>
            </a:fld>
            <a:endParaRPr lang="en-US"/>
          </a:p>
        </p:txBody>
      </p:sp>
      <p:sp>
        <p:nvSpPr>
          <p:cNvPr id="5" name="Footer Placeholder 4"/>
          <p:cNvSpPr>
            <a:spLocks noGrp="1"/>
          </p:cNvSpPr>
          <p:nvPr>
            <p:ph type="ftr" sz="quarter" idx="3"/>
          </p:nvPr>
        </p:nvSpPr>
        <p:spPr>
          <a:xfrm>
            <a:off x="685800" y="6272785"/>
            <a:ext cx="4745736" cy="365125"/>
          </a:xfrm>
          <a:prstGeom prst="rect">
            <a:avLst/>
          </a:prstGeom>
        </p:spPr>
        <p:txBody>
          <a:bodyPr vert="horz" lIns="91440" tIns="45720" rIns="91440" bIns="45720" rtlCol="0" anchor="ctr"/>
          <a:lstStyle>
            <a:lvl1pPr algn="l">
              <a:defRPr sz="1000">
                <a:solidFill>
                  <a:schemeClr val="accent1">
                    <a:lumMod val="50000"/>
                  </a:schemeClr>
                </a:solidFill>
              </a:defRPr>
            </a:lvl1pPr>
          </a:lstStyle>
          <a:p>
            <a:endParaRPr lang="en-US"/>
          </a:p>
        </p:txBody>
      </p:sp>
      <p:sp>
        <p:nvSpPr>
          <p:cNvPr id="6" name="Slide Number Placeholder 5"/>
          <p:cNvSpPr>
            <a:spLocks noGrp="1"/>
          </p:cNvSpPr>
          <p:nvPr>
            <p:ph type="sldNum" sz="quarter" idx="4"/>
          </p:nvPr>
        </p:nvSpPr>
        <p:spPr>
          <a:xfrm>
            <a:off x="8483346" y="6272785"/>
            <a:ext cx="480060" cy="365125"/>
          </a:xfrm>
          <a:prstGeom prst="rect">
            <a:avLst/>
          </a:prstGeom>
        </p:spPr>
        <p:txBody>
          <a:bodyPr vert="horz" lIns="91440" tIns="45720" rIns="91440" bIns="45720" rtlCol="0" anchor="ctr"/>
          <a:lstStyle>
            <a:lvl1pPr algn="ctr">
              <a:defRPr sz="1100" b="1" spc="-70" baseline="0">
                <a:solidFill>
                  <a:srgbClr val="FFFFFF"/>
                </a:solidFill>
                <a:latin typeface="+mn-lt"/>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34641878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200" b="0" kern="1200" cap="all" baseline="0">
          <a:blipFill>
            <a:blip r:embed="rId15">
              <a:extLst>
                <a:ext uri="{28A0092B-C50C-407E-A947-70E740481C1C}">
                  <a14:useLocalDpi xmlns:a14="http://schemas.microsoft.com/office/drawing/2010/main" val="0"/>
                </a:ext>
              </a:extLst>
            </a:blip>
            <a:tile tx="6350" ty="-127000" sx="65000" sy="64000" flip="none" algn="tl"/>
          </a:blipFill>
          <a:latin typeface="+mj-lt"/>
          <a:ea typeface="+mj-ea"/>
          <a:cs typeface="+mj-cs"/>
        </a:defRPr>
      </a:lvl1pPr>
    </p:titleStyle>
    <p:bodyStyle>
      <a:lvl1pPr marL="182880" indent="-182880" algn="l" defTabSz="914400" rtl="0" eaLnBrk="1" latinLnBrk="0" hangingPunct="1">
        <a:lnSpc>
          <a:spcPct val="90000"/>
        </a:lnSpc>
        <a:spcBef>
          <a:spcPts val="1200"/>
        </a:spcBef>
        <a:buClr>
          <a:schemeClr val="accent1">
            <a:lumMod val="75000"/>
          </a:schemeClr>
        </a:buClr>
        <a:buSzPct val="85000"/>
        <a:buFont typeface="Wingdings" pitchFamily="2" charset="2"/>
        <a:buChar char="§"/>
        <a:defRPr sz="2000" kern="1200">
          <a:solidFill>
            <a:schemeClr val="tx1"/>
          </a:solidFill>
          <a:latin typeface="+mn-lt"/>
          <a:ea typeface="+mn-ea"/>
          <a:cs typeface="+mn-cs"/>
        </a:defRPr>
      </a:lvl1pPr>
      <a:lvl2pPr marL="45720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800" kern="1200">
          <a:solidFill>
            <a:schemeClr val="tx1"/>
          </a:solidFill>
          <a:latin typeface="+mn-lt"/>
          <a:ea typeface="+mn-ea"/>
          <a:cs typeface="+mn-cs"/>
        </a:defRPr>
      </a:lvl2pPr>
      <a:lvl3pPr marL="73152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3pPr>
      <a:lvl4pPr marL="100584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400"/>
        </a:spcBef>
        <a:spcAft>
          <a:spcPts val="200"/>
        </a:spcAft>
        <a:buClr>
          <a:schemeClr val="accent1">
            <a:lumMod val="75000"/>
          </a:schemeClr>
        </a:buClr>
        <a:buSzPct val="85000"/>
        <a:buFont typeface="Wingdings" pitchFamily="2" charset="2"/>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hyperlink" Target="https://www.kaggle.com/datasets/emineyetm/fake-news-detection-datasets"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t>Fake News Detection System</a:t>
            </a:r>
          </a:p>
        </p:txBody>
      </p:sp>
      <p:sp>
        <p:nvSpPr>
          <p:cNvPr id="3" name="Subtitle 2"/>
          <p:cNvSpPr>
            <a:spLocks noGrp="1"/>
          </p:cNvSpPr>
          <p:nvPr>
            <p:ph type="subTitle" idx="1"/>
          </p:nvPr>
        </p:nvSpPr>
        <p:spPr/>
        <p:txBody>
          <a:bodyPr/>
          <a:lstStyle/>
          <a:p>
            <a:r>
              <a:rPr dirty="0"/>
              <a:t>AI-Powered Detection using Flask, Machine Learning, and React</a:t>
            </a:r>
          </a:p>
        </p:txBody>
      </p:sp>
      <p:sp>
        <p:nvSpPr>
          <p:cNvPr id="4" name="TextBox 3">
            <a:extLst>
              <a:ext uri="{FF2B5EF4-FFF2-40B4-BE49-F238E27FC236}">
                <a16:creationId xmlns:a16="http://schemas.microsoft.com/office/drawing/2014/main" id="{D61D4B2A-2AE5-6EF7-1DE1-A59FB7AE088C}"/>
              </a:ext>
            </a:extLst>
          </p:cNvPr>
          <p:cNvSpPr txBox="1"/>
          <p:nvPr/>
        </p:nvSpPr>
        <p:spPr>
          <a:xfrm>
            <a:off x="802387" y="5771535"/>
            <a:ext cx="5918454" cy="369332"/>
          </a:xfrm>
          <a:prstGeom prst="rect">
            <a:avLst/>
          </a:prstGeom>
          <a:noFill/>
        </p:spPr>
        <p:txBody>
          <a:bodyPr wrap="square" rtlCol="0">
            <a:spAutoFit/>
          </a:bodyPr>
          <a:lstStyle/>
          <a:p>
            <a:r>
              <a:rPr lang="en-US" dirty="0"/>
              <a:t>-by Abhrojit Bhattacharyya and Moksh Pandit</a:t>
            </a:r>
            <a:endParaRPr lang="en-IN"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Project Overview</a:t>
            </a:r>
          </a:p>
        </p:txBody>
      </p:sp>
      <p:sp>
        <p:nvSpPr>
          <p:cNvPr id="3" name="Content Placeholder 2"/>
          <p:cNvSpPr>
            <a:spLocks noGrp="1"/>
          </p:cNvSpPr>
          <p:nvPr>
            <p:ph idx="1"/>
          </p:nvPr>
        </p:nvSpPr>
        <p:spPr/>
        <p:txBody>
          <a:bodyPr/>
          <a:lstStyle/>
          <a:p>
            <a:endParaRPr/>
          </a:p>
          <a:p>
            <a:pPr>
              <a:spcAft>
                <a:spcPts val="500"/>
              </a:spcAft>
              <a:defRPr sz="2000"/>
            </a:pPr>
            <a:r>
              <a:t>• Flask backend provides a REST API for ML predictions</a:t>
            </a:r>
          </a:p>
          <a:p>
            <a:pPr>
              <a:spcAft>
                <a:spcPts val="500"/>
              </a:spcAft>
              <a:defRPr sz="2000"/>
            </a:pPr>
            <a:r>
              <a:t>• React frontend for interactive and modern UI</a:t>
            </a:r>
          </a:p>
          <a:p>
            <a:pPr>
              <a:spcAft>
                <a:spcPts val="500"/>
              </a:spcAft>
              <a:defRPr sz="2000"/>
            </a:pPr>
            <a:r>
              <a:t>• Logistic Regression model trained on Kaggle datasets</a:t>
            </a:r>
          </a:p>
          <a:p>
            <a:pPr>
              <a:spcAft>
                <a:spcPts val="500"/>
              </a:spcAft>
              <a:defRPr sz="2000"/>
            </a:pPr>
            <a:r>
              <a:t>• Real-time predictions with TF-IDF vectorization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Problem Statement</a:t>
            </a:r>
          </a:p>
        </p:txBody>
      </p:sp>
      <p:sp>
        <p:nvSpPr>
          <p:cNvPr id="3" name="Content Placeholder 2"/>
          <p:cNvSpPr>
            <a:spLocks noGrp="1"/>
          </p:cNvSpPr>
          <p:nvPr>
            <p:ph idx="1"/>
          </p:nvPr>
        </p:nvSpPr>
        <p:spPr/>
        <p:txBody>
          <a:bodyPr/>
          <a:lstStyle/>
          <a:p>
            <a:endParaRPr/>
          </a:p>
          <a:p>
            <a:pPr>
              <a:spcAft>
                <a:spcPts val="500"/>
              </a:spcAft>
              <a:defRPr sz="2000"/>
            </a:pPr>
            <a:r>
              <a:t>• The rapid spread of misinformation online has major social and political impacts.</a:t>
            </a:r>
          </a:p>
          <a:p>
            <a:pPr>
              <a:spcAft>
                <a:spcPts val="500"/>
              </a:spcAft>
              <a:defRPr sz="2000"/>
            </a:pPr>
            <a:r>
              <a:t>• Manual verification is inefficient and time-consuming.</a:t>
            </a:r>
          </a:p>
          <a:p>
            <a:pPr>
              <a:spcAft>
                <a:spcPts val="500"/>
              </a:spcAft>
              <a:defRPr sz="2000"/>
            </a:pPr>
            <a:r>
              <a:t>• Need for automated, reliable fake news detection system using AI.</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4F88B-5B32-F81D-8996-5475FD41E9AB}"/>
              </a:ext>
            </a:extLst>
          </p:cNvPr>
          <p:cNvSpPr>
            <a:spLocks noGrp="1"/>
          </p:cNvSpPr>
          <p:nvPr>
            <p:ph type="title"/>
          </p:nvPr>
        </p:nvSpPr>
        <p:spPr/>
        <p:txBody>
          <a:bodyPr/>
          <a:lstStyle/>
          <a:p>
            <a:r>
              <a:rPr lang="en-US" dirty="0">
                <a:solidFill>
                  <a:srgbClr val="0000CC"/>
                </a:solidFill>
              </a:rPr>
              <a:t>Dataset used for training</a:t>
            </a:r>
            <a:endParaRPr lang="en-IN" dirty="0">
              <a:solidFill>
                <a:srgbClr val="0000CC"/>
              </a:solidFill>
            </a:endParaRPr>
          </a:p>
        </p:txBody>
      </p:sp>
      <p:sp>
        <p:nvSpPr>
          <p:cNvPr id="3" name="Content Placeholder 2">
            <a:extLst>
              <a:ext uri="{FF2B5EF4-FFF2-40B4-BE49-F238E27FC236}">
                <a16:creationId xmlns:a16="http://schemas.microsoft.com/office/drawing/2014/main" id="{41214834-E4D4-BE9B-F999-DF0D019440B8}"/>
              </a:ext>
            </a:extLst>
          </p:cNvPr>
          <p:cNvSpPr>
            <a:spLocks noGrp="1"/>
          </p:cNvSpPr>
          <p:nvPr>
            <p:ph idx="1"/>
          </p:nvPr>
        </p:nvSpPr>
        <p:spPr/>
        <p:txBody>
          <a:bodyPr/>
          <a:lstStyle/>
          <a:p>
            <a:pPr marL="0" indent="0">
              <a:buNone/>
            </a:pPr>
            <a:r>
              <a:rPr lang="en-US" sz="2600" dirty="0"/>
              <a:t>Source:</a:t>
            </a:r>
            <a:endParaRPr lang="en-US" sz="2600" dirty="0">
              <a:hlinkClick r:id="rId2"/>
            </a:endParaRPr>
          </a:p>
          <a:p>
            <a:pPr marL="0" indent="0">
              <a:buNone/>
            </a:pPr>
            <a:r>
              <a:rPr lang="en-US" sz="2600" u="sng" dirty="0">
                <a:hlinkClick r:id="rId2"/>
              </a:rPr>
              <a:t> Fake news detection dataset</a:t>
            </a:r>
            <a:r>
              <a:rPr lang="en-US" sz="2600" u="sng" dirty="0"/>
              <a:t> </a:t>
            </a:r>
            <a:r>
              <a:rPr lang="en-US" sz="2600" dirty="0"/>
              <a:t>(Kaggle)</a:t>
            </a:r>
          </a:p>
          <a:p>
            <a:pPr marL="0" indent="0">
              <a:buNone/>
            </a:pPr>
            <a:r>
              <a:rPr lang="en-US" sz="2600" dirty="0"/>
              <a:t>Total articles: 44,000+</a:t>
            </a:r>
          </a:p>
          <a:p>
            <a:pPr marL="0" indent="0">
              <a:buNone/>
            </a:pPr>
            <a:r>
              <a:rPr lang="en-US" sz="2600" dirty="0"/>
              <a:t>Fake articles: 21,000+</a:t>
            </a:r>
          </a:p>
          <a:p>
            <a:pPr marL="0" indent="0">
              <a:buNone/>
            </a:pPr>
            <a:r>
              <a:rPr lang="en-US" sz="2600" dirty="0"/>
              <a:t>Real articles: 23,000+</a:t>
            </a:r>
          </a:p>
          <a:p>
            <a:pPr marL="0" indent="0">
              <a:buNone/>
            </a:pPr>
            <a:endParaRPr lang="en-US" sz="2600" u="sng" dirty="0"/>
          </a:p>
          <a:p>
            <a:pPr marL="0" indent="0">
              <a:buNone/>
            </a:pPr>
            <a:endParaRPr lang="en-IN" sz="2600" dirty="0"/>
          </a:p>
          <a:p>
            <a:pPr marL="0" indent="0">
              <a:buNone/>
            </a:pPr>
            <a:endParaRPr lang="en-IN" dirty="0"/>
          </a:p>
        </p:txBody>
      </p:sp>
    </p:spTree>
    <p:extLst>
      <p:ext uri="{BB962C8B-B14F-4D97-AF65-F5344CB8AC3E}">
        <p14:creationId xmlns:p14="http://schemas.microsoft.com/office/powerpoint/2010/main" val="32727414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52597899-2180-6E50-DF9B-8B316BEE72E1}"/>
              </a:ext>
            </a:extLst>
          </p:cNvPr>
          <p:cNvSpPr>
            <a:spLocks noGrp="1"/>
          </p:cNvSpPr>
          <p:nvPr>
            <p:ph idx="1"/>
          </p:nvPr>
        </p:nvSpPr>
        <p:spPr>
          <a:xfrm>
            <a:off x="685800" y="383459"/>
            <a:ext cx="7772400" cy="5788742"/>
          </a:xfrm>
        </p:spPr>
        <p:txBody>
          <a:bodyPr/>
          <a:lstStyle/>
          <a:p>
            <a:pPr marL="548640" lvl="2" indent="0">
              <a:buNone/>
            </a:pPr>
            <a:r>
              <a:rPr lang="en-US" sz="3800" dirty="0">
                <a:solidFill>
                  <a:srgbClr val="0000CC"/>
                </a:solidFill>
                <a:latin typeface="+mj-lt"/>
              </a:rPr>
              <a:t>      Fake vs real news distribution:</a:t>
            </a:r>
          </a:p>
          <a:p>
            <a:pPr marL="0" indent="0" algn="ctr">
              <a:buNone/>
            </a:pPr>
            <a:endParaRPr lang="en-US" dirty="0"/>
          </a:p>
          <a:p>
            <a:pPr marL="0" indent="0">
              <a:buNone/>
            </a:pPr>
            <a:endParaRPr lang="en-US" dirty="0"/>
          </a:p>
        </p:txBody>
      </p:sp>
      <p:pic>
        <p:nvPicPr>
          <p:cNvPr id="8" name="Picture 7" descr="A group of graphs and charts&#10;&#10;AI-generated content may be incorrect.">
            <a:extLst>
              <a:ext uri="{FF2B5EF4-FFF2-40B4-BE49-F238E27FC236}">
                <a16:creationId xmlns:a16="http://schemas.microsoft.com/office/drawing/2014/main" id="{97D359A2-C9F4-062D-A161-717AEF534E84}"/>
              </a:ext>
            </a:extLst>
          </p:cNvPr>
          <p:cNvPicPr>
            <a:picLocks noChangeAspect="1"/>
          </p:cNvPicPr>
          <p:nvPr/>
        </p:nvPicPr>
        <p:blipFill>
          <a:blip r:embed="rId2"/>
          <a:srcRect l="34302" r="31934" b="48609"/>
          <a:stretch>
            <a:fillRect/>
          </a:stretch>
        </p:blipFill>
        <p:spPr>
          <a:xfrm>
            <a:off x="1974145" y="1799303"/>
            <a:ext cx="5195709" cy="3490451"/>
          </a:xfrm>
          <a:prstGeom prst="rect">
            <a:avLst/>
          </a:prstGeom>
        </p:spPr>
      </p:pic>
    </p:spTree>
    <p:extLst>
      <p:ext uri="{BB962C8B-B14F-4D97-AF65-F5344CB8AC3E}">
        <p14:creationId xmlns:p14="http://schemas.microsoft.com/office/powerpoint/2010/main" val="25364857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529734-4741-95D1-1C75-2D19C216B780}"/>
              </a:ext>
            </a:extLst>
          </p:cNvPr>
          <p:cNvSpPr>
            <a:spLocks noGrp="1"/>
          </p:cNvSpPr>
          <p:nvPr>
            <p:ph type="title"/>
          </p:nvPr>
        </p:nvSpPr>
        <p:spPr>
          <a:xfrm>
            <a:off x="685800" y="491612"/>
            <a:ext cx="7772400" cy="668299"/>
          </a:xfrm>
        </p:spPr>
        <p:txBody>
          <a:bodyPr/>
          <a:lstStyle/>
          <a:p>
            <a:r>
              <a:rPr lang="en-US" dirty="0">
                <a:solidFill>
                  <a:srgbClr val="0000CC"/>
                </a:solidFill>
              </a:rPr>
              <a:t>DETAILS OF ARTICLES IN DATASET</a:t>
            </a:r>
            <a:endParaRPr lang="en-IN" dirty="0">
              <a:solidFill>
                <a:srgbClr val="0000CC"/>
              </a:solidFill>
            </a:endParaRPr>
          </a:p>
        </p:txBody>
      </p:sp>
      <p:pic>
        <p:nvPicPr>
          <p:cNvPr id="4" name="Content Placeholder 3">
            <a:extLst>
              <a:ext uri="{FF2B5EF4-FFF2-40B4-BE49-F238E27FC236}">
                <a16:creationId xmlns:a16="http://schemas.microsoft.com/office/drawing/2014/main" id="{6AE0497F-B20D-11FB-D612-CF86A317798A}"/>
              </a:ext>
            </a:extLst>
          </p:cNvPr>
          <p:cNvPicPr>
            <a:picLocks noGrp="1" noChangeAspect="1"/>
          </p:cNvPicPr>
          <p:nvPr>
            <p:ph idx="1"/>
          </p:nvPr>
        </p:nvPicPr>
        <p:blipFill>
          <a:blip r:embed="rId2"/>
          <a:srcRect b="57248"/>
          <a:stretch>
            <a:fillRect/>
          </a:stretch>
        </p:blipFill>
        <p:spPr>
          <a:xfrm>
            <a:off x="685800" y="1425677"/>
            <a:ext cx="7878097" cy="2003323"/>
          </a:xfrm>
          <a:prstGeom prst="rect">
            <a:avLst/>
          </a:prstGeom>
        </p:spPr>
      </p:pic>
      <p:sp>
        <p:nvSpPr>
          <p:cNvPr id="3" name="TextBox 2">
            <a:extLst>
              <a:ext uri="{FF2B5EF4-FFF2-40B4-BE49-F238E27FC236}">
                <a16:creationId xmlns:a16="http://schemas.microsoft.com/office/drawing/2014/main" id="{5FAC26FD-2A0A-2EBD-43F4-B91E999E9B43}"/>
              </a:ext>
            </a:extLst>
          </p:cNvPr>
          <p:cNvSpPr txBox="1"/>
          <p:nvPr/>
        </p:nvSpPr>
        <p:spPr>
          <a:xfrm>
            <a:off x="685800" y="3824748"/>
            <a:ext cx="7415981" cy="1754326"/>
          </a:xfrm>
          <a:prstGeom prst="rect">
            <a:avLst/>
          </a:prstGeom>
          <a:noFill/>
        </p:spPr>
        <p:txBody>
          <a:bodyPr wrap="square" rtlCol="0">
            <a:spAutoFit/>
          </a:bodyPr>
          <a:lstStyle/>
          <a:p>
            <a:r>
              <a:rPr lang="en-US" dirty="0"/>
              <a:t>This graph shows us that:</a:t>
            </a:r>
          </a:p>
          <a:p>
            <a:r>
              <a:rPr lang="en-US" dirty="0"/>
              <a:t>&gt;Fake news articles have a larger range of words from 200-1000 words, while Real news articles have a smaller range of 200-600 words, likely due to a lot more filler content in fake news articles</a:t>
            </a:r>
          </a:p>
          <a:p>
            <a:r>
              <a:rPr lang="en-US" dirty="0"/>
              <a:t>&gt;Very large articles(1300-2000 words) are almost always fake</a:t>
            </a:r>
          </a:p>
          <a:p>
            <a:endParaRPr lang="en-IN" dirty="0"/>
          </a:p>
        </p:txBody>
      </p:sp>
    </p:spTree>
    <p:extLst>
      <p:ext uri="{BB962C8B-B14F-4D97-AF65-F5344CB8AC3E}">
        <p14:creationId xmlns:p14="http://schemas.microsoft.com/office/powerpoint/2010/main" val="3494224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Content Placeholder 3">
            <a:extLst>
              <a:ext uri="{FF2B5EF4-FFF2-40B4-BE49-F238E27FC236}">
                <a16:creationId xmlns:a16="http://schemas.microsoft.com/office/drawing/2014/main" id="{0A950A5C-AF08-6815-2D07-6C3823D5ADA2}"/>
              </a:ext>
            </a:extLst>
          </p:cNvPr>
          <p:cNvPicPr>
            <a:picLocks noGrp="1" noChangeAspect="1"/>
          </p:cNvPicPr>
          <p:nvPr>
            <p:ph idx="1"/>
          </p:nvPr>
        </p:nvPicPr>
        <p:blipFill>
          <a:blip r:embed="rId2"/>
          <a:srcRect t="49693"/>
          <a:stretch>
            <a:fillRect/>
          </a:stretch>
        </p:blipFill>
        <p:spPr>
          <a:xfrm>
            <a:off x="168444" y="462116"/>
            <a:ext cx="7471221" cy="2966884"/>
          </a:xfrm>
          <a:prstGeom prst="rect">
            <a:avLst/>
          </a:prstGeom>
        </p:spPr>
      </p:pic>
      <p:sp>
        <p:nvSpPr>
          <p:cNvPr id="5" name="TextBox 4">
            <a:extLst>
              <a:ext uri="{FF2B5EF4-FFF2-40B4-BE49-F238E27FC236}">
                <a16:creationId xmlns:a16="http://schemas.microsoft.com/office/drawing/2014/main" id="{BAA9F605-3762-E4EC-B870-5C449C144589}"/>
              </a:ext>
            </a:extLst>
          </p:cNvPr>
          <p:cNvSpPr txBox="1"/>
          <p:nvPr/>
        </p:nvSpPr>
        <p:spPr>
          <a:xfrm>
            <a:off x="168444" y="4218039"/>
            <a:ext cx="7964129" cy="1477328"/>
          </a:xfrm>
          <a:prstGeom prst="rect">
            <a:avLst/>
          </a:prstGeom>
          <a:noFill/>
        </p:spPr>
        <p:txBody>
          <a:bodyPr wrap="square" rtlCol="0">
            <a:spAutoFit/>
          </a:bodyPr>
          <a:lstStyle/>
          <a:p>
            <a:r>
              <a:rPr lang="en-US" dirty="0"/>
              <a:t>This graph shows us:</a:t>
            </a:r>
          </a:p>
          <a:p>
            <a:r>
              <a:rPr lang="en-US" dirty="0"/>
              <a:t>&gt;Fake news articles use a lot more exclamation marks in comparison to real news articles</a:t>
            </a:r>
          </a:p>
          <a:p>
            <a:r>
              <a:rPr lang="en-US" dirty="0"/>
              <a:t>&gt;Real news articles use barely any exclamation marks, as they adhere to professional journalistic standards</a:t>
            </a:r>
            <a:endParaRPr lang="en-IN" dirty="0"/>
          </a:p>
        </p:txBody>
      </p:sp>
    </p:spTree>
    <p:extLst>
      <p:ext uri="{BB962C8B-B14F-4D97-AF65-F5344CB8AC3E}">
        <p14:creationId xmlns:p14="http://schemas.microsoft.com/office/powerpoint/2010/main" val="10009661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descr="A group of graphs and charts&#10;&#10;AI-generated content may be incorrect.">
            <a:extLst>
              <a:ext uri="{FF2B5EF4-FFF2-40B4-BE49-F238E27FC236}">
                <a16:creationId xmlns:a16="http://schemas.microsoft.com/office/drawing/2014/main" id="{C67C29DF-AFAE-3C85-F045-9DF7BF6AD7B3}"/>
              </a:ext>
            </a:extLst>
          </p:cNvPr>
          <p:cNvPicPr>
            <a:picLocks noChangeAspect="1"/>
          </p:cNvPicPr>
          <p:nvPr/>
        </p:nvPicPr>
        <p:blipFill>
          <a:blip r:embed="rId2"/>
          <a:srcRect l="33333" t="56346" b="7291"/>
          <a:stretch>
            <a:fillRect/>
          </a:stretch>
        </p:blipFill>
        <p:spPr>
          <a:xfrm>
            <a:off x="0" y="117987"/>
            <a:ext cx="8908026" cy="4414684"/>
          </a:xfrm>
          <a:prstGeom prst="rect">
            <a:avLst/>
          </a:prstGeom>
        </p:spPr>
      </p:pic>
      <p:sp>
        <p:nvSpPr>
          <p:cNvPr id="6" name="TextBox 5">
            <a:extLst>
              <a:ext uri="{FF2B5EF4-FFF2-40B4-BE49-F238E27FC236}">
                <a16:creationId xmlns:a16="http://schemas.microsoft.com/office/drawing/2014/main" id="{800BA4E3-BD70-0E95-93AA-B38FB9104BA8}"/>
              </a:ext>
            </a:extLst>
          </p:cNvPr>
          <p:cNvSpPr txBox="1"/>
          <p:nvPr/>
        </p:nvSpPr>
        <p:spPr>
          <a:xfrm>
            <a:off x="285137" y="5191433"/>
            <a:ext cx="4208206" cy="923330"/>
          </a:xfrm>
          <a:prstGeom prst="rect">
            <a:avLst/>
          </a:prstGeom>
          <a:noFill/>
        </p:spPr>
        <p:txBody>
          <a:bodyPr wrap="square" rtlCol="0">
            <a:spAutoFit/>
          </a:bodyPr>
          <a:lstStyle/>
          <a:p>
            <a:r>
              <a:rPr lang="en-US" dirty="0"/>
              <a:t>This word cloud shows the most frequent words used in the fake news articles dataset</a:t>
            </a:r>
            <a:endParaRPr lang="en-IN" dirty="0"/>
          </a:p>
        </p:txBody>
      </p:sp>
      <p:sp>
        <p:nvSpPr>
          <p:cNvPr id="7" name="TextBox 6">
            <a:extLst>
              <a:ext uri="{FF2B5EF4-FFF2-40B4-BE49-F238E27FC236}">
                <a16:creationId xmlns:a16="http://schemas.microsoft.com/office/drawing/2014/main" id="{C3041B83-1A04-AECA-75B1-EE94962EE306}"/>
              </a:ext>
            </a:extLst>
          </p:cNvPr>
          <p:cNvSpPr txBox="1"/>
          <p:nvPr/>
        </p:nvSpPr>
        <p:spPr>
          <a:xfrm>
            <a:off x="5073446" y="5191433"/>
            <a:ext cx="3569110" cy="923330"/>
          </a:xfrm>
          <a:prstGeom prst="rect">
            <a:avLst/>
          </a:prstGeom>
          <a:noFill/>
        </p:spPr>
        <p:txBody>
          <a:bodyPr wrap="square" rtlCol="0">
            <a:spAutoFit/>
          </a:bodyPr>
          <a:lstStyle/>
          <a:p>
            <a:r>
              <a:rPr lang="en-US" dirty="0"/>
              <a:t>This word cloud shows the most frequent words used in the real news articles dataset </a:t>
            </a:r>
            <a:endParaRPr lang="en-IN" dirty="0"/>
          </a:p>
        </p:txBody>
      </p:sp>
    </p:spTree>
    <p:extLst>
      <p:ext uri="{BB962C8B-B14F-4D97-AF65-F5344CB8AC3E}">
        <p14:creationId xmlns:p14="http://schemas.microsoft.com/office/powerpoint/2010/main" val="35840102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rPr dirty="0"/>
              <a:t>Backend (Flask Application)</a:t>
            </a:r>
          </a:p>
        </p:txBody>
      </p:sp>
      <p:sp>
        <p:nvSpPr>
          <p:cNvPr id="3" name="Content Placeholder 2"/>
          <p:cNvSpPr>
            <a:spLocks noGrp="1"/>
          </p:cNvSpPr>
          <p:nvPr>
            <p:ph idx="1"/>
          </p:nvPr>
        </p:nvSpPr>
        <p:spPr/>
        <p:txBody>
          <a:bodyPr/>
          <a:lstStyle/>
          <a:p>
            <a:endParaRPr/>
          </a:p>
          <a:p>
            <a:pPr>
              <a:spcAft>
                <a:spcPts val="500"/>
              </a:spcAft>
              <a:defRPr sz="2000"/>
            </a:pPr>
            <a:r>
              <a:t>• Flask REST API for model training and predictions</a:t>
            </a:r>
          </a:p>
          <a:p>
            <a:pPr>
              <a:spcAft>
                <a:spcPts val="500"/>
              </a:spcAft>
              <a:defRPr sz="2000"/>
            </a:pPr>
            <a:r>
              <a:t>• Endpoints:</a:t>
            </a:r>
          </a:p>
          <a:p>
            <a:pPr>
              <a:spcAft>
                <a:spcPts val="500"/>
              </a:spcAft>
              <a:defRPr sz="2000"/>
            </a:pPr>
            <a:r>
              <a:t>   - /api/predict → Predict fake or real news</a:t>
            </a:r>
          </a:p>
          <a:p>
            <a:pPr>
              <a:spcAft>
                <a:spcPts val="500"/>
              </a:spcAft>
              <a:defRPr sz="2000"/>
            </a:pPr>
            <a:r>
              <a:t>   - /api/stats → Retrieve model performance metrics</a:t>
            </a:r>
          </a:p>
          <a:p>
            <a:pPr>
              <a:spcAft>
                <a:spcPts val="500"/>
              </a:spcAft>
              <a:defRPr sz="2000"/>
            </a:pPr>
            <a:r>
              <a:t>   - /api/retrain → Retrain model with updated datasets</a:t>
            </a:r>
          </a:p>
          <a:p>
            <a:pPr>
              <a:spcAft>
                <a:spcPts val="500"/>
              </a:spcAft>
              <a:defRPr sz="2000"/>
            </a:pPr>
            <a:r>
              <a:t>• Saves trained model and TF-IDF vectorizer using Pickle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Machine Learning Model</a:t>
            </a:r>
          </a:p>
        </p:txBody>
      </p:sp>
      <p:sp>
        <p:nvSpPr>
          <p:cNvPr id="3" name="Content Placeholder 2"/>
          <p:cNvSpPr>
            <a:spLocks noGrp="1"/>
          </p:cNvSpPr>
          <p:nvPr>
            <p:ph idx="1"/>
          </p:nvPr>
        </p:nvSpPr>
        <p:spPr/>
        <p:txBody>
          <a:bodyPr/>
          <a:lstStyle/>
          <a:p>
            <a:endParaRPr/>
          </a:p>
          <a:p>
            <a:pPr>
              <a:spcAft>
                <a:spcPts val="500"/>
              </a:spcAft>
              <a:defRPr sz="2000"/>
            </a:pPr>
            <a:r>
              <a:t>• Text preprocessing includes cleaning URLs, punctuation, and hashtags</a:t>
            </a:r>
          </a:p>
          <a:p>
            <a:pPr>
              <a:spcAft>
                <a:spcPts val="500"/>
              </a:spcAft>
              <a:defRPr sz="2000"/>
            </a:pPr>
            <a:r>
              <a:t>• TF-IDF Vectorizer extracts features from text</a:t>
            </a:r>
          </a:p>
          <a:p>
            <a:pPr>
              <a:spcAft>
                <a:spcPts val="500"/>
              </a:spcAft>
              <a:defRPr sz="2000"/>
            </a:pPr>
            <a:r>
              <a:t>• Logistic Regression classifier predicts fake vs. real</a:t>
            </a:r>
          </a:p>
          <a:p>
            <a:pPr>
              <a:spcAft>
                <a:spcPts val="500"/>
              </a:spcAft>
              <a:defRPr sz="2000"/>
            </a:pPr>
            <a:r>
              <a:t>• Model evaluated on Accuracy, Precision, Recall, and F1-score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8C41D9-36D2-A4F3-F698-C12A081C9AF3}"/>
              </a:ext>
            </a:extLst>
          </p:cNvPr>
          <p:cNvSpPr>
            <a:spLocks noGrp="1"/>
          </p:cNvSpPr>
          <p:nvPr>
            <p:ph type="title"/>
          </p:nvPr>
        </p:nvSpPr>
        <p:spPr>
          <a:xfrm>
            <a:off x="194187" y="150089"/>
            <a:ext cx="7772400" cy="1071421"/>
          </a:xfrm>
        </p:spPr>
        <p:txBody>
          <a:bodyPr>
            <a:normAutofit fontScale="90000"/>
          </a:bodyPr>
          <a:lstStyle/>
          <a:p>
            <a:r>
              <a:rPr lang="en-US" dirty="0">
                <a:solidFill>
                  <a:srgbClr val="0000CC"/>
                </a:solidFill>
              </a:rPr>
              <a:t>WHY USE TF-IDF AND LOGISTIC REGRESSION?</a:t>
            </a:r>
            <a:endParaRPr lang="en-IN" dirty="0">
              <a:solidFill>
                <a:srgbClr val="0000CC"/>
              </a:solidFill>
            </a:endParaRPr>
          </a:p>
        </p:txBody>
      </p:sp>
      <p:sp>
        <p:nvSpPr>
          <p:cNvPr id="3" name="Content Placeholder 2">
            <a:extLst>
              <a:ext uri="{FF2B5EF4-FFF2-40B4-BE49-F238E27FC236}">
                <a16:creationId xmlns:a16="http://schemas.microsoft.com/office/drawing/2014/main" id="{33C48941-F1C8-9876-1219-9895C7CDF226}"/>
              </a:ext>
            </a:extLst>
          </p:cNvPr>
          <p:cNvSpPr>
            <a:spLocks noGrp="1"/>
          </p:cNvSpPr>
          <p:nvPr>
            <p:ph idx="1"/>
          </p:nvPr>
        </p:nvSpPr>
        <p:spPr>
          <a:xfrm>
            <a:off x="0" y="1061883"/>
            <a:ext cx="9144000" cy="5646027"/>
          </a:xfrm>
        </p:spPr>
        <p:txBody>
          <a:bodyPr>
            <a:normAutofit/>
          </a:bodyPr>
          <a:lstStyle/>
          <a:p>
            <a:r>
              <a:rPr lang="en-US" dirty="0"/>
              <a:t>First some explanations:</a:t>
            </a:r>
          </a:p>
          <a:p>
            <a:r>
              <a:rPr lang="en-US" dirty="0"/>
              <a:t> TF-IDF vectorization:</a:t>
            </a:r>
          </a:p>
          <a:p>
            <a:pPr lvl="1"/>
            <a:r>
              <a:rPr lang="en-US" dirty="0"/>
              <a:t>It is useful to identify meaningful words, reduce noise(words like: is, the </a:t>
            </a:r>
            <a:r>
              <a:rPr lang="en-US" dirty="0" err="1"/>
              <a:t>etc</a:t>
            </a:r>
            <a:r>
              <a:rPr lang="en-US" dirty="0"/>
              <a:t>) and help the model focus on informative words</a:t>
            </a:r>
          </a:p>
          <a:p>
            <a:pPr lvl="1"/>
            <a:r>
              <a:rPr lang="en-US" dirty="0"/>
              <a:t> TF(Term frequency): it measures how often a word appears in an article, but it alone is not enough, as some other common words(</a:t>
            </a:r>
            <a:r>
              <a:rPr lang="en-US" dirty="0" err="1"/>
              <a:t>eg</a:t>
            </a:r>
            <a:r>
              <a:rPr lang="en-US" dirty="0"/>
              <a:t>- news, breaking </a:t>
            </a:r>
            <a:r>
              <a:rPr lang="en-US" dirty="0" err="1"/>
              <a:t>etc</a:t>
            </a:r>
            <a:r>
              <a:rPr lang="en-US" dirty="0"/>
              <a:t>) appear quite frequently</a:t>
            </a:r>
          </a:p>
          <a:p>
            <a:pPr lvl="1"/>
            <a:r>
              <a:rPr lang="en-US" dirty="0"/>
              <a:t>IDF(inverse document frequency):</a:t>
            </a:r>
            <a:r>
              <a:rPr lang="en-IN" dirty="0"/>
              <a:t> It measures the rarity or uniqueness of a word, across the entire dataset, the formula for it is log(N/n), where N is the total number of documents and n is the number of documents containing the term</a:t>
            </a:r>
          </a:p>
          <a:p>
            <a:pPr lvl="1"/>
            <a:r>
              <a:rPr lang="en-IN" dirty="0"/>
              <a:t>Combining these two functions tells how important a word is in a specific document, a high TF-IDF score would indicate the word appears frequently in a specific article, but is rare across the dataset, making it very important, while ignoring words with a low score</a:t>
            </a:r>
          </a:p>
          <a:p>
            <a:pPr lvl="1"/>
            <a:r>
              <a:rPr lang="en-IN" dirty="0"/>
              <a:t>Why it works?: TF-IDF helps the model to detect linguistic differences between fake news and real news, for example, a real news article contains more neutral terms and professional vocabulary, while fake news articles contain sensational words and misleading terms like “</a:t>
            </a:r>
            <a:r>
              <a:rPr lang="en-IN" dirty="0" err="1"/>
              <a:t>outrageous”,”Secret</a:t>
            </a:r>
            <a:r>
              <a:rPr lang="en-IN" dirty="0"/>
              <a:t>” etc</a:t>
            </a:r>
          </a:p>
          <a:p>
            <a:pPr marL="548640" lvl="2" indent="0">
              <a:buNone/>
            </a:pPr>
            <a:r>
              <a:rPr lang="en-US" dirty="0"/>
              <a:t>  </a:t>
            </a:r>
          </a:p>
        </p:txBody>
      </p:sp>
    </p:spTree>
    <p:extLst>
      <p:ext uri="{BB962C8B-B14F-4D97-AF65-F5344CB8AC3E}">
        <p14:creationId xmlns:p14="http://schemas.microsoft.com/office/powerpoint/2010/main" val="6222214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BB3820-73BA-B844-01FC-D6D785350819}"/>
              </a:ext>
            </a:extLst>
          </p:cNvPr>
          <p:cNvSpPr>
            <a:spLocks noGrp="1"/>
          </p:cNvSpPr>
          <p:nvPr>
            <p:ph idx="1"/>
          </p:nvPr>
        </p:nvSpPr>
        <p:spPr>
          <a:xfrm>
            <a:off x="13887" y="887852"/>
            <a:ext cx="8642555" cy="2458727"/>
          </a:xfrm>
        </p:spPr>
        <p:txBody>
          <a:bodyPr>
            <a:normAutofit/>
          </a:bodyPr>
          <a:lstStyle/>
          <a:p>
            <a:r>
              <a:rPr lang="en-US" dirty="0"/>
              <a:t>Logistic regression:</a:t>
            </a:r>
            <a:endParaRPr lang="en-IN" dirty="0"/>
          </a:p>
          <a:p>
            <a:pPr lvl="1"/>
            <a:r>
              <a:rPr lang="en-IN" dirty="0"/>
              <a:t>While it’s name has regression, it is actually a classification model</a:t>
            </a:r>
          </a:p>
          <a:p>
            <a:pPr lvl="1"/>
            <a:r>
              <a:rPr lang="en-IN" dirty="0"/>
              <a:t>It is excellent at finding patterns</a:t>
            </a:r>
          </a:p>
          <a:p>
            <a:pPr lvl="1"/>
            <a:r>
              <a:rPr lang="en-IN" dirty="0"/>
              <a:t>It assigns weights to words based on how strongly the word correlates to fake or real news, which gets more accurate every time it trains</a:t>
            </a:r>
          </a:p>
          <a:p>
            <a:pPr lvl="1"/>
            <a:r>
              <a:rPr lang="en-IN" dirty="0"/>
              <a:t>It puts the weights and TF-IDF scores of words through a linear equation, and turns the result of that equation into a probability through another, which tells us if the article is fake or real</a:t>
            </a:r>
          </a:p>
        </p:txBody>
      </p:sp>
      <p:sp>
        <p:nvSpPr>
          <p:cNvPr id="5" name="TextBox 4">
            <a:extLst>
              <a:ext uri="{FF2B5EF4-FFF2-40B4-BE49-F238E27FC236}">
                <a16:creationId xmlns:a16="http://schemas.microsoft.com/office/drawing/2014/main" id="{83FCDFB8-F4D3-74F9-436E-9FE79C4E5AF8}"/>
              </a:ext>
            </a:extLst>
          </p:cNvPr>
          <p:cNvSpPr txBox="1"/>
          <p:nvPr/>
        </p:nvSpPr>
        <p:spPr>
          <a:xfrm>
            <a:off x="212131" y="3346580"/>
            <a:ext cx="8246069" cy="2862322"/>
          </a:xfrm>
          <a:prstGeom prst="rect">
            <a:avLst/>
          </a:prstGeom>
          <a:noFill/>
        </p:spPr>
        <p:txBody>
          <a:bodyPr wrap="square" rtlCol="0">
            <a:spAutoFit/>
          </a:bodyPr>
          <a:lstStyle/>
          <a:p>
            <a:r>
              <a:rPr lang="en-US" dirty="0"/>
              <a:t>Why use them both together?:</a:t>
            </a:r>
          </a:p>
          <a:p>
            <a:r>
              <a:rPr lang="en-US" dirty="0">
                <a:sym typeface="Wingdings" panose="05000000000000000000" pitchFamily="2" charset="2"/>
              </a:rPr>
              <a:t>TF-IDF turns text into a vector of meaningful numbers, in which important words get higher value, and common words get a lower value, giving logistic regression clean, weighted inputs</a:t>
            </a:r>
          </a:p>
          <a:p>
            <a:r>
              <a:rPr lang="en-US" dirty="0">
                <a:sym typeface="Wingdings" panose="05000000000000000000" pitchFamily="2" charset="2"/>
              </a:rPr>
              <a:t>Logistic regression works well with sparse matrices(i.e. mostly zeroes in the matrix) which is what TF-IDF gives it. So it efficiently learns which words indicate strongly whether an article is fake or real</a:t>
            </a:r>
          </a:p>
          <a:p>
            <a:r>
              <a:rPr lang="en-US" dirty="0">
                <a:sym typeface="Wingdings" panose="05000000000000000000" pitchFamily="2" charset="2"/>
              </a:rPr>
              <a:t> Logistic regression trains very quickly, making it work well for website deployment and makes it easy for computers without GPUs to run the program</a:t>
            </a:r>
            <a:endParaRPr lang="en-IN" dirty="0"/>
          </a:p>
        </p:txBody>
      </p:sp>
    </p:spTree>
    <p:extLst>
      <p:ext uri="{BB962C8B-B14F-4D97-AF65-F5344CB8AC3E}">
        <p14:creationId xmlns:p14="http://schemas.microsoft.com/office/powerpoint/2010/main" val="20496349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Frontend (React Application)</a:t>
            </a:r>
          </a:p>
        </p:txBody>
      </p:sp>
      <p:sp>
        <p:nvSpPr>
          <p:cNvPr id="3" name="Content Placeholder 2"/>
          <p:cNvSpPr>
            <a:spLocks noGrp="1"/>
          </p:cNvSpPr>
          <p:nvPr>
            <p:ph idx="1"/>
          </p:nvPr>
        </p:nvSpPr>
        <p:spPr/>
        <p:txBody>
          <a:bodyPr/>
          <a:lstStyle/>
          <a:p>
            <a:endParaRPr/>
          </a:p>
          <a:p>
            <a:pPr>
              <a:spcAft>
                <a:spcPts val="500"/>
              </a:spcAft>
              <a:defRPr sz="2000"/>
            </a:pPr>
            <a:r>
              <a:t>• Developed using React and Tailwind CSS</a:t>
            </a:r>
          </a:p>
          <a:p>
            <a:pPr>
              <a:spcAft>
                <a:spcPts val="500"/>
              </a:spcAft>
              <a:defRPr sz="2000"/>
            </a:pPr>
            <a:r>
              <a:t>• Connects to Flask backend for real-time predictions</a:t>
            </a:r>
          </a:p>
          <a:p>
            <a:pPr>
              <a:spcAft>
                <a:spcPts val="500"/>
              </a:spcAft>
              <a:defRPr sz="2000"/>
            </a:pPr>
            <a:r>
              <a:t>• Displays live model metrics (accuracy, F1-score, etc.)</a:t>
            </a:r>
          </a:p>
          <a:p>
            <a:pPr>
              <a:spcAft>
                <a:spcPts val="500"/>
              </a:spcAft>
              <a:defRPr sz="2000"/>
            </a:pPr>
            <a:r>
              <a:t>• Interactive design with example news articles and visual confidence bars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rPr dirty="0"/>
              <a:t>System Workflow</a:t>
            </a:r>
          </a:p>
        </p:txBody>
      </p:sp>
      <p:sp>
        <p:nvSpPr>
          <p:cNvPr id="3" name="Content Placeholder 2"/>
          <p:cNvSpPr>
            <a:spLocks noGrp="1"/>
          </p:cNvSpPr>
          <p:nvPr>
            <p:ph idx="1"/>
          </p:nvPr>
        </p:nvSpPr>
        <p:spPr>
          <a:xfrm>
            <a:off x="457200" y="1573327"/>
            <a:ext cx="8229600" cy="4525963"/>
          </a:xfrm>
        </p:spPr>
        <p:txBody>
          <a:bodyPr>
            <a:normAutofit lnSpcReduction="10000"/>
          </a:bodyPr>
          <a:lstStyle/>
          <a:p>
            <a:pPr marL="0" indent="0" algn="ctr">
              <a:buNone/>
            </a:pPr>
            <a:r>
              <a:rPr lang="en-IN" sz="2300" dirty="0">
                <a:latin typeface="Times New Roman" panose="02020603050405020304" pitchFamily="18" charset="0"/>
                <a:cs typeface="Times New Roman" panose="02020603050405020304" pitchFamily="18" charset="0"/>
              </a:rPr>
              <a:t>User inputs news text on the frontend</a:t>
            </a:r>
          </a:p>
          <a:p>
            <a:pPr marL="0" indent="0" algn="ctr">
              <a:spcAft>
                <a:spcPts val="500"/>
              </a:spcAft>
              <a:buNone/>
              <a:defRPr sz="2000"/>
            </a:pPr>
            <a:endParaRPr lang="en-IN" sz="2300" dirty="0">
              <a:latin typeface="Times New Roman" panose="02020603050405020304" pitchFamily="18" charset="0"/>
              <a:cs typeface="Times New Roman" panose="02020603050405020304" pitchFamily="18" charset="0"/>
            </a:endParaRPr>
          </a:p>
          <a:p>
            <a:pPr marL="0" indent="0" algn="ctr">
              <a:spcAft>
                <a:spcPts val="500"/>
              </a:spcAft>
              <a:buNone/>
              <a:defRPr sz="2000"/>
            </a:pPr>
            <a:r>
              <a:rPr lang="en-IN" sz="2300" dirty="0">
                <a:latin typeface="Times New Roman" panose="02020603050405020304" pitchFamily="18" charset="0"/>
                <a:cs typeface="Times New Roman" panose="02020603050405020304" pitchFamily="18" charset="0"/>
              </a:rPr>
              <a:t>Text sent to Flask backend via POST request</a:t>
            </a:r>
          </a:p>
          <a:p>
            <a:pPr marL="0" indent="0" algn="ctr">
              <a:spcAft>
                <a:spcPts val="500"/>
              </a:spcAft>
              <a:buNone/>
              <a:defRPr sz="2000"/>
            </a:pPr>
            <a:r>
              <a:rPr lang="en-IN" sz="2300" dirty="0">
                <a:latin typeface="Times New Roman" panose="02020603050405020304" pitchFamily="18" charset="0"/>
                <a:cs typeface="Times New Roman" panose="02020603050405020304" pitchFamily="18" charset="0"/>
              </a:rPr>
              <a:t>			</a:t>
            </a:r>
          </a:p>
          <a:p>
            <a:pPr marL="0" indent="0" algn="ctr">
              <a:spcAft>
                <a:spcPts val="500"/>
              </a:spcAft>
              <a:buNone/>
              <a:defRPr sz="2000"/>
            </a:pPr>
            <a:r>
              <a:rPr lang="en-IN" sz="2300" dirty="0">
                <a:latin typeface="Times New Roman" panose="02020603050405020304" pitchFamily="18" charset="0"/>
                <a:cs typeface="Times New Roman" panose="02020603050405020304" pitchFamily="18" charset="0"/>
              </a:rPr>
              <a:t>Text cleaned and transformed using TF-IDF</a:t>
            </a:r>
          </a:p>
          <a:p>
            <a:pPr marL="0" indent="0" algn="ctr">
              <a:spcAft>
                <a:spcPts val="500"/>
              </a:spcAft>
              <a:buNone/>
              <a:defRPr sz="2000"/>
            </a:pPr>
            <a:endParaRPr lang="en-IN" sz="2300" dirty="0">
              <a:latin typeface="Times New Roman" panose="02020603050405020304" pitchFamily="18" charset="0"/>
              <a:cs typeface="Times New Roman" panose="02020603050405020304" pitchFamily="18" charset="0"/>
            </a:endParaRPr>
          </a:p>
          <a:p>
            <a:pPr marL="0" indent="0" algn="ctr">
              <a:spcAft>
                <a:spcPts val="500"/>
              </a:spcAft>
              <a:buNone/>
              <a:defRPr sz="2000"/>
            </a:pPr>
            <a:r>
              <a:rPr lang="en-IN" sz="2300" dirty="0">
                <a:latin typeface="Times New Roman" panose="02020603050405020304" pitchFamily="18" charset="0"/>
                <a:cs typeface="Times New Roman" panose="02020603050405020304" pitchFamily="18" charset="0"/>
              </a:rPr>
              <a:t>Logistic Regression model predicts authenticity</a:t>
            </a:r>
          </a:p>
          <a:p>
            <a:pPr marL="0" indent="0" algn="ctr">
              <a:spcAft>
                <a:spcPts val="500"/>
              </a:spcAft>
              <a:buNone/>
              <a:defRPr sz="2000"/>
            </a:pPr>
            <a:endParaRPr lang="en-IN" sz="2300" dirty="0">
              <a:latin typeface="Times New Roman" panose="02020603050405020304" pitchFamily="18" charset="0"/>
              <a:cs typeface="Times New Roman" panose="02020603050405020304" pitchFamily="18" charset="0"/>
            </a:endParaRPr>
          </a:p>
          <a:p>
            <a:pPr marL="0" indent="0" algn="ctr">
              <a:spcAft>
                <a:spcPts val="500"/>
              </a:spcAft>
              <a:buNone/>
              <a:defRPr sz="2000"/>
            </a:pPr>
            <a:r>
              <a:rPr lang="en-IN" sz="2300" dirty="0">
                <a:latin typeface="Times New Roman" panose="02020603050405020304" pitchFamily="18" charset="0"/>
                <a:cs typeface="Times New Roman" panose="02020603050405020304" pitchFamily="18" charset="0"/>
              </a:rPr>
              <a:t>Frontend displays result with confidence levels</a:t>
            </a:r>
          </a:p>
        </p:txBody>
      </p:sp>
      <p:sp>
        <p:nvSpPr>
          <p:cNvPr id="10" name="Arrow: Down 9">
            <a:extLst>
              <a:ext uri="{FF2B5EF4-FFF2-40B4-BE49-F238E27FC236}">
                <a16:creationId xmlns:a16="http://schemas.microsoft.com/office/drawing/2014/main" id="{705F5EF0-10CA-B82E-C62D-1C66A66AEBBD}"/>
              </a:ext>
            </a:extLst>
          </p:cNvPr>
          <p:cNvSpPr/>
          <p:nvPr/>
        </p:nvSpPr>
        <p:spPr>
          <a:xfrm>
            <a:off x="4311445" y="2146513"/>
            <a:ext cx="442452" cy="21631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11" name="Arrow: Down 10">
            <a:extLst>
              <a:ext uri="{FF2B5EF4-FFF2-40B4-BE49-F238E27FC236}">
                <a16:creationId xmlns:a16="http://schemas.microsoft.com/office/drawing/2014/main" id="{1B70830B-C1EB-219C-B081-212C8CB440F8}"/>
              </a:ext>
            </a:extLst>
          </p:cNvPr>
          <p:cNvSpPr/>
          <p:nvPr/>
        </p:nvSpPr>
        <p:spPr>
          <a:xfrm>
            <a:off x="4311445" y="3177716"/>
            <a:ext cx="442452" cy="21631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13" name="Arrow: Down 12">
            <a:extLst>
              <a:ext uri="{FF2B5EF4-FFF2-40B4-BE49-F238E27FC236}">
                <a16:creationId xmlns:a16="http://schemas.microsoft.com/office/drawing/2014/main" id="{60B72F4F-2068-50B6-F00B-D86BD684A16F}"/>
              </a:ext>
            </a:extLst>
          </p:cNvPr>
          <p:cNvSpPr/>
          <p:nvPr/>
        </p:nvSpPr>
        <p:spPr>
          <a:xfrm>
            <a:off x="4291780" y="4987854"/>
            <a:ext cx="442452" cy="21631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
        <p:nvSpPr>
          <p:cNvPr id="14" name="Arrow: Down 13">
            <a:extLst>
              <a:ext uri="{FF2B5EF4-FFF2-40B4-BE49-F238E27FC236}">
                <a16:creationId xmlns:a16="http://schemas.microsoft.com/office/drawing/2014/main" id="{EE862FF5-8828-5415-ED6E-30CF249E605D}"/>
              </a:ext>
            </a:extLst>
          </p:cNvPr>
          <p:cNvSpPr/>
          <p:nvPr/>
        </p:nvSpPr>
        <p:spPr>
          <a:xfrm>
            <a:off x="4311445" y="4092729"/>
            <a:ext cx="442452" cy="216310"/>
          </a:xfrm>
          <a:prstGeom prst="downArrow">
            <a:avLst/>
          </a:prstGeom>
        </p:spPr>
        <p:style>
          <a:lnRef idx="1">
            <a:schemeClr val="accent1"/>
          </a:lnRef>
          <a:fillRef idx="3">
            <a:schemeClr val="accent1"/>
          </a:fillRef>
          <a:effectRef idx="2">
            <a:schemeClr val="accent1"/>
          </a:effectRef>
          <a:fontRef idx="minor">
            <a:schemeClr val="lt1"/>
          </a:fontRef>
        </p:style>
        <p:txBody>
          <a:bodyPr rtlCol="0" anchor="ctr"/>
          <a:lstStyle/>
          <a:p>
            <a:pPr algn="ctr"/>
            <a:endParaRPr lang="en-IN"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Technologies Used</a:t>
            </a:r>
          </a:p>
        </p:txBody>
      </p:sp>
      <p:sp>
        <p:nvSpPr>
          <p:cNvPr id="3" name="Content Placeholder 2"/>
          <p:cNvSpPr>
            <a:spLocks noGrp="1"/>
          </p:cNvSpPr>
          <p:nvPr>
            <p:ph idx="1"/>
          </p:nvPr>
        </p:nvSpPr>
        <p:spPr>
          <a:xfrm>
            <a:off x="607142" y="2807208"/>
            <a:ext cx="7772400" cy="4050792"/>
          </a:xfrm>
        </p:spPr>
        <p:txBody>
          <a:bodyPr/>
          <a:lstStyle/>
          <a:p>
            <a:endParaRPr dirty="0"/>
          </a:p>
          <a:p>
            <a:pPr>
              <a:spcAft>
                <a:spcPts val="500"/>
              </a:spcAft>
              <a:defRPr sz="2000"/>
            </a:pPr>
            <a:r>
              <a:rPr sz="2500" dirty="0"/>
              <a:t>🔹 Backend: Python, Flask, Pandas, Scikit-learn</a:t>
            </a:r>
          </a:p>
          <a:p>
            <a:pPr>
              <a:spcAft>
                <a:spcPts val="500"/>
              </a:spcAft>
              <a:defRPr sz="2000"/>
            </a:pPr>
            <a:r>
              <a:rPr sz="2500" dirty="0"/>
              <a:t>🔹 Frontend: React.js, Tailwind CSS, Babel</a:t>
            </a:r>
          </a:p>
          <a:p>
            <a:pPr>
              <a:spcAft>
                <a:spcPts val="500"/>
              </a:spcAft>
              <a:defRPr sz="2000"/>
            </a:pPr>
            <a:r>
              <a:rPr sz="2500" dirty="0"/>
              <a:t>🔹 Model Storage: Pickle</a:t>
            </a:r>
          </a:p>
          <a:p>
            <a:pPr>
              <a:spcAft>
                <a:spcPts val="500"/>
              </a:spcAft>
              <a:defRPr sz="2000"/>
            </a:pPr>
            <a:r>
              <a:rPr sz="2500" dirty="0"/>
              <a:t>🔹 Communication: RESTful APIs with JSON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76E83E-7DBD-7546-B95B-155EBE4506D0}"/>
              </a:ext>
            </a:extLst>
          </p:cNvPr>
          <p:cNvSpPr>
            <a:spLocks noGrp="1"/>
          </p:cNvSpPr>
          <p:nvPr>
            <p:ph type="title"/>
          </p:nvPr>
        </p:nvSpPr>
        <p:spPr/>
        <p:txBody>
          <a:bodyPr/>
          <a:lstStyle/>
          <a:p>
            <a:r>
              <a:rPr lang="en-US" dirty="0">
                <a:solidFill>
                  <a:srgbClr val="0000CC"/>
                </a:solidFill>
              </a:rPr>
              <a:t>Test set distribution</a:t>
            </a:r>
            <a:endParaRPr lang="en-IN" dirty="0">
              <a:solidFill>
                <a:srgbClr val="0000CC"/>
              </a:solidFill>
            </a:endParaRPr>
          </a:p>
        </p:txBody>
      </p:sp>
      <p:pic>
        <p:nvPicPr>
          <p:cNvPr id="5" name="Content Placeholder 4" descr="A close-up of a graph&#10;&#10;AI-generated content may be incorrect.">
            <a:extLst>
              <a:ext uri="{FF2B5EF4-FFF2-40B4-BE49-F238E27FC236}">
                <a16:creationId xmlns:a16="http://schemas.microsoft.com/office/drawing/2014/main" id="{0E4B6DB6-4C9C-61CB-A49B-B26987C9DF0D}"/>
              </a:ext>
            </a:extLst>
          </p:cNvPr>
          <p:cNvPicPr>
            <a:picLocks noGrp="1" noChangeAspect="1"/>
          </p:cNvPicPr>
          <p:nvPr>
            <p:ph idx="1"/>
          </p:nvPr>
        </p:nvPicPr>
        <p:blipFill>
          <a:blip r:embed="rId2"/>
          <a:srcRect l="58605" t="56439" r="3425" b="3837"/>
          <a:stretch>
            <a:fillRect/>
          </a:stretch>
        </p:blipFill>
        <p:spPr>
          <a:xfrm>
            <a:off x="1907286" y="2550489"/>
            <a:ext cx="5329428" cy="2956560"/>
          </a:xfrm>
        </p:spPr>
      </p:pic>
    </p:spTree>
    <p:extLst>
      <p:ext uri="{BB962C8B-B14F-4D97-AF65-F5344CB8AC3E}">
        <p14:creationId xmlns:p14="http://schemas.microsoft.com/office/powerpoint/2010/main" val="76758205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60020" y="0"/>
            <a:ext cx="7772400" cy="890016"/>
          </a:xfrm>
        </p:spPr>
        <p:txBody>
          <a:bodyPr/>
          <a:lstStyle/>
          <a:p>
            <a:pPr>
              <a:defRPr sz="3600" b="1">
                <a:solidFill>
                  <a:srgbClr val="003399"/>
                </a:solidFill>
              </a:defRPr>
            </a:pPr>
            <a:r>
              <a:rPr dirty="0"/>
              <a:t>Model Results &amp; Performance</a:t>
            </a:r>
          </a:p>
        </p:txBody>
      </p:sp>
      <p:pic>
        <p:nvPicPr>
          <p:cNvPr id="5" name="Picture 4" descr="A group of graphs and charts&#10;&#10;AI-generated content may be incorrect.">
            <a:extLst>
              <a:ext uri="{FF2B5EF4-FFF2-40B4-BE49-F238E27FC236}">
                <a16:creationId xmlns:a16="http://schemas.microsoft.com/office/drawing/2014/main" id="{29C6EE1C-F9A8-15E7-D336-75C88C81A4F0}"/>
              </a:ext>
            </a:extLst>
          </p:cNvPr>
          <p:cNvPicPr>
            <a:picLocks noChangeAspect="1"/>
          </p:cNvPicPr>
          <p:nvPr/>
        </p:nvPicPr>
        <p:blipFill>
          <a:blip r:embed="rId2"/>
          <a:srcRect r="67500" b="48421"/>
          <a:stretch>
            <a:fillRect/>
          </a:stretch>
        </p:blipFill>
        <p:spPr>
          <a:xfrm>
            <a:off x="2042159" y="685800"/>
            <a:ext cx="5273041" cy="3748548"/>
          </a:xfrm>
          <a:prstGeom prst="rect">
            <a:avLst/>
          </a:prstGeom>
        </p:spPr>
      </p:pic>
      <p:sp>
        <p:nvSpPr>
          <p:cNvPr id="4" name="TextBox 3">
            <a:extLst>
              <a:ext uri="{FF2B5EF4-FFF2-40B4-BE49-F238E27FC236}">
                <a16:creationId xmlns:a16="http://schemas.microsoft.com/office/drawing/2014/main" id="{E543171C-191F-03DC-244D-B2C8DE4DA763}"/>
              </a:ext>
            </a:extLst>
          </p:cNvPr>
          <p:cNvSpPr txBox="1"/>
          <p:nvPr/>
        </p:nvSpPr>
        <p:spPr>
          <a:xfrm>
            <a:off x="160020" y="5033133"/>
            <a:ext cx="8191008" cy="646331"/>
          </a:xfrm>
          <a:prstGeom prst="rect">
            <a:avLst/>
          </a:prstGeom>
          <a:noFill/>
        </p:spPr>
        <p:txBody>
          <a:bodyPr wrap="square" rtlCol="0">
            <a:spAutoFit/>
          </a:bodyPr>
          <a:lstStyle/>
          <a:p>
            <a:r>
              <a:rPr lang="en-US" dirty="0">
                <a:sym typeface="Wingdings" panose="05000000000000000000" pitchFamily="2" charset="2"/>
              </a:rPr>
              <a:t>The model showed a very low rate of false positives and false negatives, as showcased by the confusion matrix given above</a:t>
            </a:r>
            <a:endParaRPr lang="en-IN"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F232DA8E-DE5D-D983-1D35-2AB93CAEBA5A}"/>
              </a:ext>
            </a:extLst>
          </p:cNvPr>
          <p:cNvPicPr>
            <a:picLocks noChangeAspect="1"/>
          </p:cNvPicPr>
          <p:nvPr/>
        </p:nvPicPr>
        <p:blipFill>
          <a:blip r:embed="rId2"/>
          <a:stretch>
            <a:fillRect/>
          </a:stretch>
        </p:blipFill>
        <p:spPr>
          <a:xfrm>
            <a:off x="271967" y="233681"/>
            <a:ext cx="8872033" cy="3444239"/>
          </a:xfrm>
          <a:prstGeom prst="rect">
            <a:avLst/>
          </a:prstGeom>
        </p:spPr>
      </p:pic>
      <p:sp>
        <p:nvSpPr>
          <p:cNvPr id="10" name="TextBox 9">
            <a:extLst>
              <a:ext uri="{FF2B5EF4-FFF2-40B4-BE49-F238E27FC236}">
                <a16:creationId xmlns:a16="http://schemas.microsoft.com/office/drawing/2014/main" id="{B909A1C4-2781-E4B7-30A2-D7E72BD4D94B}"/>
              </a:ext>
            </a:extLst>
          </p:cNvPr>
          <p:cNvSpPr txBox="1"/>
          <p:nvPr/>
        </p:nvSpPr>
        <p:spPr>
          <a:xfrm>
            <a:off x="619760" y="3800168"/>
            <a:ext cx="7904480" cy="2862322"/>
          </a:xfrm>
          <a:prstGeom prst="rect">
            <a:avLst/>
          </a:prstGeom>
          <a:noFill/>
        </p:spPr>
        <p:txBody>
          <a:bodyPr wrap="square" rtlCol="0">
            <a:spAutoFit/>
          </a:bodyPr>
          <a:lstStyle/>
          <a:p>
            <a:r>
              <a:rPr lang="en-US" dirty="0">
                <a:sym typeface="Wingdings" panose="05000000000000000000" pitchFamily="2" charset="2"/>
              </a:rPr>
              <a:t>Accuracy: It is measuring the percentage of total correct predictions</a:t>
            </a:r>
          </a:p>
          <a:p>
            <a:r>
              <a:rPr lang="en-US" dirty="0">
                <a:sym typeface="Wingdings" panose="05000000000000000000" pitchFamily="2" charset="2"/>
              </a:rPr>
              <a:t>Precision: It showcases how many fake articles were correctly predicted as fake by the model, tells us how often false positives occur</a:t>
            </a:r>
          </a:p>
          <a:p>
            <a:r>
              <a:rPr lang="en-US" dirty="0">
                <a:sym typeface="Wingdings" panose="05000000000000000000" pitchFamily="2" charset="2"/>
              </a:rPr>
              <a:t>Recall: It shows how many actual fake articles were detected successfully, tells us how often false negatives occur</a:t>
            </a:r>
          </a:p>
          <a:p>
            <a:r>
              <a:rPr lang="en-US" dirty="0">
                <a:sym typeface="Wingdings" panose="05000000000000000000" pitchFamily="2" charset="2"/>
              </a:rPr>
              <a:t>F1 score: it is the harmonic mean of precision and recall, gives a overall metric to how often the model makes a mistake</a:t>
            </a:r>
          </a:p>
          <a:p>
            <a:endParaRPr lang="en-US" dirty="0">
              <a:sym typeface="Wingdings" panose="05000000000000000000" pitchFamily="2" charset="2"/>
            </a:endParaRPr>
          </a:p>
          <a:p>
            <a:r>
              <a:rPr lang="en-US" dirty="0">
                <a:sym typeface="Wingdings" panose="05000000000000000000" pitchFamily="2" charset="2"/>
              </a:rPr>
              <a:t>In this model, we see all the metrics are above 95%, so it can be trusted to make the right predictions, though mistakes are still possible</a:t>
            </a:r>
            <a:endParaRPr lang="en-IN" dirty="0"/>
          </a:p>
        </p:txBody>
      </p:sp>
    </p:spTree>
    <p:extLst>
      <p:ext uri="{BB962C8B-B14F-4D97-AF65-F5344CB8AC3E}">
        <p14:creationId xmlns:p14="http://schemas.microsoft.com/office/powerpoint/2010/main" val="39904019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502015-1942-50A0-E196-9A62F241E0F2}"/>
              </a:ext>
            </a:extLst>
          </p:cNvPr>
          <p:cNvSpPr>
            <a:spLocks noGrp="1"/>
          </p:cNvSpPr>
          <p:nvPr>
            <p:ph type="title"/>
          </p:nvPr>
        </p:nvSpPr>
        <p:spPr>
          <a:xfrm>
            <a:off x="685800" y="484632"/>
            <a:ext cx="7772400" cy="807720"/>
          </a:xfrm>
        </p:spPr>
        <p:txBody>
          <a:bodyPr>
            <a:normAutofit/>
          </a:bodyPr>
          <a:lstStyle/>
          <a:p>
            <a:r>
              <a:rPr lang="en-US" dirty="0">
                <a:solidFill>
                  <a:srgbClr val="0000FF"/>
                </a:solidFill>
              </a:rPr>
              <a:t>Running the model</a:t>
            </a:r>
            <a:endParaRPr lang="en-IN" dirty="0">
              <a:solidFill>
                <a:srgbClr val="0000FF"/>
              </a:solidFill>
            </a:endParaRPr>
          </a:p>
        </p:txBody>
      </p:sp>
      <p:pic>
        <p:nvPicPr>
          <p:cNvPr id="5" name="Content Placeholder 4" descr="A screenshot of a computer">
            <a:extLst>
              <a:ext uri="{FF2B5EF4-FFF2-40B4-BE49-F238E27FC236}">
                <a16:creationId xmlns:a16="http://schemas.microsoft.com/office/drawing/2014/main" id="{0FA282E9-0026-411B-5728-57F058E07658}"/>
              </a:ext>
            </a:extLst>
          </p:cNvPr>
          <p:cNvPicPr>
            <a:picLocks noGrp="1" noChangeAspect="1"/>
          </p:cNvPicPr>
          <p:nvPr>
            <p:ph idx="1"/>
          </p:nvPr>
        </p:nvPicPr>
        <p:blipFill>
          <a:blip r:embed="rId2"/>
          <a:stretch>
            <a:fillRect/>
          </a:stretch>
        </p:blipFill>
        <p:spPr>
          <a:xfrm>
            <a:off x="685800" y="1343118"/>
            <a:ext cx="7772400" cy="3637314"/>
          </a:xfrm>
        </p:spPr>
      </p:pic>
      <p:sp>
        <p:nvSpPr>
          <p:cNvPr id="6" name="TextBox 5">
            <a:extLst>
              <a:ext uri="{FF2B5EF4-FFF2-40B4-BE49-F238E27FC236}">
                <a16:creationId xmlns:a16="http://schemas.microsoft.com/office/drawing/2014/main" id="{9D73D383-D4E8-AC2E-A869-9D2C08C207F2}"/>
              </a:ext>
            </a:extLst>
          </p:cNvPr>
          <p:cNvSpPr txBox="1"/>
          <p:nvPr/>
        </p:nvSpPr>
        <p:spPr>
          <a:xfrm>
            <a:off x="633984" y="5055582"/>
            <a:ext cx="7824216" cy="923330"/>
          </a:xfrm>
          <a:prstGeom prst="rect">
            <a:avLst/>
          </a:prstGeom>
          <a:noFill/>
        </p:spPr>
        <p:txBody>
          <a:bodyPr wrap="square" rtlCol="0">
            <a:spAutoFit/>
          </a:bodyPr>
          <a:lstStyle/>
          <a:p>
            <a:r>
              <a:rPr lang="en-US" dirty="0"/>
              <a:t>Given above is a real news article taken from “The Hindu” as input into the website with the model deployed, as we can see the model was able to correctly identify the article as Real news.</a:t>
            </a:r>
            <a:endParaRPr lang="en-IN" dirty="0"/>
          </a:p>
        </p:txBody>
      </p:sp>
      <p:sp>
        <p:nvSpPr>
          <p:cNvPr id="7" name="Diamond 6">
            <a:extLst>
              <a:ext uri="{FF2B5EF4-FFF2-40B4-BE49-F238E27FC236}">
                <a16:creationId xmlns:a16="http://schemas.microsoft.com/office/drawing/2014/main" id="{30D063D4-F847-45B8-94E5-FB2B655FD33F}"/>
              </a:ext>
            </a:extLst>
          </p:cNvPr>
          <p:cNvSpPr/>
          <p:nvPr/>
        </p:nvSpPr>
        <p:spPr>
          <a:xfrm>
            <a:off x="481584" y="5181600"/>
            <a:ext cx="152400" cy="158496"/>
          </a:xfrm>
          <a:prstGeom prst="diamond">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Tree>
    <p:extLst>
      <p:ext uri="{BB962C8B-B14F-4D97-AF65-F5344CB8AC3E}">
        <p14:creationId xmlns:p14="http://schemas.microsoft.com/office/powerpoint/2010/main" val="2910952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sz="3600" b="1">
                <a:solidFill>
                  <a:srgbClr val="003399"/>
                </a:solidFill>
              </a:defRPr>
            </a:pPr>
            <a:r>
              <a:t>Conclusion</a:t>
            </a:r>
          </a:p>
        </p:txBody>
      </p:sp>
      <p:sp>
        <p:nvSpPr>
          <p:cNvPr id="3" name="Content Placeholder 2"/>
          <p:cNvSpPr>
            <a:spLocks noGrp="1"/>
          </p:cNvSpPr>
          <p:nvPr>
            <p:ph idx="1"/>
          </p:nvPr>
        </p:nvSpPr>
        <p:spPr/>
        <p:txBody>
          <a:bodyPr>
            <a:normAutofit fontScale="92500" lnSpcReduction="10000"/>
          </a:bodyPr>
          <a:lstStyle/>
          <a:p>
            <a:endParaRPr dirty="0"/>
          </a:p>
          <a:p>
            <a:pPr>
              <a:spcAft>
                <a:spcPts val="500"/>
              </a:spcAft>
              <a:defRPr sz="2000"/>
            </a:pPr>
            <a:r>
              <a:rPr sz="3000" dirty="0"/>
              <a:t>Combines Machine Learning and Web Development effectively</a:t>
            </a:r>
          </a:p>
          <a:p>
            <a:pPr>
              <a:spcAft>
                <a:spcPts val="500"/>
              </a:spcAft>
              <a:defRPr sz="2000"/>
            </a:pPr>
            <a:r>
              <a:rPr sz="3000" dirty="0"/>
              <a:t>Provides real-time AI-powered verification of news authenticity</a:t>
            </a:r>
          </a:p>
          <a:p>
            <a:pPr>
              <a:spcAft>
                <a:spcPts val="500"/>
              </a:spcAft>
              <a:defRPr sz="2000"/>
            </a:pPr>
            <a:r>
              <a:rPr sz="3000" dirty="0"/>
              <a:t> Demonstrates full-stack integration of Flask and React</a:t>
            </a:r>
          </a:p>
          <a:p>
            <a:pPr>
              <a:spcAft>
                <a:spcPts val="500"/>
              </a:spcAft>
              <a:defRPr sz="2000"/>
            </a:pPr>
            <a:r>
              <a:rPr sz="3000" dirty="0"/>
              <a:t>Scalable solution for combating misinformation online</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Wood Type">
  <a:themeElements>
    <a:clrScheme name="Wood Type">
      <a:dk1>
        <a:sysClr val="windowText" lastClr="000000"/>
      </a:dk1>
      <a:lt1>
        <a:sysClr val="window" lastClr="FFFFFF"/>
      </a:lt1>
      <a:dk2>
        <a:srgbClr val="696464"/>
      </a:dk2>
      <a:lt2>
        <a:srgbClr val="E9E5DC"/>
      </a:lt2>
      <a:accent1>
        <a:srgbClr val="D34817"/>
      </a:accent1>
      <a:accent2>
        <a:srgbClr val="9B2D1F"/>
      </a:accent2>
      <a:accent3>
        <a:srgbClr val="A28E6A"/>
      </a:accent3>
      <a:accent4>
        <a:srgbClr val="956251"/>
      </a:accent4>
      <a:accent5>
        <a:srgbClr val="918485"/>
      </a:accent5>
      <a:accent6>
        <a:srgbClr val="855D5D"/>
      </a:accent6>
      <a:hlink>
        <a:srgbClr val="CC9900"/>
      </a:hlink>
      <a:folHlink>
        <a:srgbClr val="96A9A9"/>
      </a:folHlink>
    </a:clrScheme>
    <a:fontScheme name="Wood Type">
      <a:majorFont>
        <a:latin typeface="Rockwell Condensed" panose="02060603050405020104"/>
        <a:ea typeface=""/>
        <a:cs typeface=""/>
        <a:font script="Grek" typeface="Cambria"/>
        <a:font script="Cyrl" typeface="Cambria"/>
        <a:font script="Jpan" typeface="HG明朝B"/>
        <a:font script="Hang" typeface="바탕"/>
        <a:font script="Hans" typeface="方正姚体"/>
        <a:font script="Hant" typeface="微軟正黑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Rockwell" panose="02060603020205020403"/>
        <a:ea typeface=""/>
        <a:cs typeface=""/>
        <a:font script="Grek" typeface="Cambria"/>
        <a:font script="Cyrl" typeface="Cambria"/>
        <a:font script="Jpan" typeface="HG明朝B"/>
        <a:font script="Hang" typeface="바탕"/>
        <a:font script="Hans" typeface="方正姚体"/>
        <a:font script="Hant" typeface="標楷體"/>
        <a:font script="Arab" typeface="Times New Roman"/>
        <a:font script="Hebr" typeface="David"/>
        <a:font script="Thai" typeface="JasmineUPC"/>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inorFont>
    </a:fontScheme>
    <a:fmtScheme name="Wood Type">
      <a:fillStyleLst>
        <a:solidFill>
          <a:schemeClr val="phClr"/>
        </a:solidFill>
        <a:blipFill rotWithShape="1">
          <a:blip xmlns:r="http://schemas.openxmlformats.org/officeDocument/2006/relationships" r:embed="rId1">
            <a:duotone>
              <a:schemeClr val="phClr">
                <a:tint val="70000"/>
                <a:shade val="63000"/>
              </a:schemeClr>
              <a:schemeClr val="phClr">
                <a:tint val="10000"/>
                <a:satMod val="150000"/>
              </a:schemeClr>
            </a:duotone>
          </a:blip>
          <a:tile tx="0" ty="0" sx="60000" sy="59000" flip="none" algn="tl"/>
        </a:blipFill>
        <a:blipFill rotWithShape="1">
          <a:blip xmlns:r="http://schemas.openxmlformats.org/officeDocument/2006/relationships" r:embed="rId1">
            <a:duotone>
              <a:schemeClr val="phClr">
                <a:shade val="36000"/>
                <a:satMod val="120000"/>
              </a:schemeClr>
              <a:schemeClr val="phClr">
                <a:tint val="40000"/>
              </a:schemeClr>
            </a:duotone>
          </a:blip>
          <a:tile tx="0" ty="0" sx="60000" sy="59000" flip="none" algn="tl"/>
        </a:blipFill>
      </a:fillStyleLst>
      <a:lnStyleLst>
        <a:ln w="6350"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softEdge rad="12700"/>
          </a:effectLst>
        </a:effectStyle>
        <a:effectStyle>
          <a:effectLst>
            <a:outerShdw blurRad="50800" dist="19050" dir="5400000" algn="tl" rotWithShape="0">
              <a:srgbClr val="000000">
                <a:alpha val="60000"/>
              </a:srgbClr>
            </a:outerShdw>
            <a:softEdge rad="12700"/>
          </a:effectLst>
        </a:effectStyle>
      </a:effectStyleLst>
      <a:bgFillStyleLst>
        <a:solidFill>
          <a:schemeClr val="phClr"/>
        </a:solidFill>
        <a:solidFill>
          <a:schemeClr val="phClr">
            <a:shade val="97000"/>
            <a:satMod val="150000"/>
          </a:schemeClr>
        </a:solidFill>
        <a:blipFill rotWithShape="1">
          <a:blip xmlns:r="http://schemas.openxmlformats.org/officeDocument/2006/relationships" r:embed="rId1">
            <a:duotone>
              <a:schemeClr val="phClr">
                <a:tint val="75000"/>
                <a:shade val="58000"/>
                <a:satMod val="120000"/>
              </a:schemeClr>
              <a:schemeClr val="phClr">
                <a:tint val="50000"/>
                <a:shade val="96000"/>
              </a:schemeClr>
            </a:duotone>
          </a:blip>
          <a:tile tx="0" ty="0" sx="100000" sy="100000" flip="none" algn="tl"/>
        </a:blipFill>
      </a:bgFillStyleLst>
    </a:fmtScheme>
  </a:themeElements>
  <a:objectDefaults/>
  <a:extraClrSchemeLst/>
  <a:extLst>
    <a:ext uri="{05A4C25C-085E-4340-85A3-A5531E510DB2}">
      <thm15:themeFamily xmlns:thm15="http://schemas.microsoft.com/office/thememl/2012/main" name="Wood Type" id="{7ACABC62-BF99-48CF-A9DC-4DB89C7B13DC}" vid="{142A1326-48AB-42A9-8428-CB14AA30176D}"/>
    </a:ext>
  </a:extLst>
</a:theme>
</file>

<file path=docProps/app.xml><?xml version="1.0" encoding="utf-8"?>
<Properties xmlns="http://schemas.openxmlformats.org/officeDocument/2006/extended-properties" xmlns:vt="http://schemas.openxmlformats.org/officeDocument/2006/docPropsVTypes">
  <Template>TM03090434[[fn=Wood Type]]</Template>
  <TotalTime>206</TotalTime>
  <Words>1113</Words>
  <Application>Microsoft Office PowerPoint</Application>
  <PresentationFormat>On-screen Show (4:3)</PresentationFormat>
  <Paragraphs>102</Paragraphs>
  <Slides>20</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Rockwell</vt:lpstr>
      <vt:lpstr>Rockwell Condensed</vt:lpstr>
      <vt:lpstr>Times New Roman</vt:lpstr>
      <vt:lpstr>Wingdings</vt:lpstr>
      <vt:lpstr>Wood Type</vt:lpstr>
      <vt:lpstr>Fake News Detection System</vt:lpstr>
      <vt:lpstr>Project Overview</vt:lpstr>
      <vt:lpstr>Problem Statement</vt:lpstr>
      <vt:lpstr>Dataset used for training</vt:lpstr>
      <vt:lpstr>PowerPoint Presentation</vt:lpstr>
      <vt:lpstr>DETAILS OF ARTICLES IN DATASET</vt:lpstr>
      <vt:lpstr>PowerPoint Presentation</vt:lpstr>
      <vt:lpstr>PowerPoint Presentation</vt:lpstr>
      <vt:lpstr>Backend (Flask Application)</vt:lpstr>
      <vt:lpstr>Machine Learning Model</vt:lpstr>
      <vt:lpstr>WHY USE TF-IDF AND LOGISTIC REGRESSION?</vt:lpstr>
      <vt:lpstr>PowerPoint Presentation</vt:lpstr>
      <vt:lpstr>Frontend (React Application)</vt:lpstr>
      <vt:lpstr>System Workflow</vt:lpstr>
      <vt:lpstr>Technologies Used</vt:lpstr>
      <vt:lpstr>Test set distribution</vt:lpstr>
      <vt:lpstr>Model Results &amp; Performance</vt:lpstr>
      <vt:lpstr>PowerPoint Presentation</vt:lpstr>
      <vt:lpstr>Running the model</vt:lpstr>
      <vt:lpstr>Conclusion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arundhati bhattacharrya</cp:lastModifiedBy>
  <cp:revision>10</cp:revision>
  <dcterms:created xsi:type="dcterms:W3CDTF">2013-01-27T09:14:16Z</dcterms:created>
  <dcterms:modified xsi:type="dcterms:W3CDTF">2025-11-23T04:56:29Z</dcterms:modified>
  <cp:category/>
</cp:coreProperties>
</file>