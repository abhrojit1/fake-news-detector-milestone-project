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9" r:id="rId5"/>
    <p:sldId id="270" r:id="rId6"/>
    <p:sldId id="271" r:id="rId7"/>
    <p:sldId id="259" r:id="rId8"/>
    <p:sldId id="260" r:id="rId9"/>
    <p:sldId id="261" r:id="rId10"/>
    <p:sldId id="262" r:id="rId11"/>
    <p:sldId id="264" r:id="rId12"/>
    <p:sldId id="265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946" y="-4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48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355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7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671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885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940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032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19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16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554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597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18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emineyetm/fake-news-detection-dataset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Fake News Detection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Detection using Flask, Machine Learning, and React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99"/>
                </a:solidFill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500"/>
              </a:spcAft>
              <a:defRPr sz="2000"/>
            </a:pPr>
            <a:r>
              <a:t>• Flask backend provides a REST API for ML predictions</a:t>
            </a:r>
          </a:p>
          <a:p>
            <a:pPr>
              <a:spcAft>
                <a:spcPts val="500"/>
              </a:spcAft>
              <a:defRPr sz="2000"/>
            </a:pPr>
            <a:r>
              <a:t>• React frontend for interactive and modern UI</a:t>
            </a:r>
          </a:p>
          <a:p>
            <a:pPr>
              <a:spcAft>
                <a:spcPts val="500"/>
              </a:spcAft>
              <a:defRPr sz="2000"/>
            </a:pPr>
            <a:r>
              <a:t>• Logistic Regression model trained on Kaggle datasets</a:t>
            </a:r>
          </a:p>
          <a:p>
            <a:pPr>
              <a:spcAft>
                <a:spcPts val="500"/>
              </a:spcAft>
              <a:defRPr sz="2000"/>
            </a:pPr>
            <a:r>
              <a:t>• Real-time predictions with TF-IDF vectorization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99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500"/>
              </a:spcAft>
              <a:defRPr sz="2000"/>
            </a:pPr>
            <a:r>
              <a:t>• The rapid spread of misinformation online has major social and political impacts.</a:t>
            </a:r>
          </a:p>
          <a:p>
            <a:pPr>
              <a:spcAft>
                <a:spcPts val="500"/>
              </a:spcAft>
              <a:defRPr sz="2000"/>
            </a:pPr>
            <a:r>
              <a:t>• Manual verification is inefficient and time-consuming.</a:t>
            </a:r>
          </a:p>
          <a:p>
            <a:pPr>
              <a:spcAft>
                <a:spcPts val="500"/>
              </a:spcAft>
              <a:defRPr sz="2000"/>
            </a:pPr>
            <a:r>
              <a:t>• Need for automated, reliable fake news detection system using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4F88B-5B32-F81D-8996-5475FD41E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CC"/>
                </a:solidFill>
              </a:rPr>
              <a:t>Dataset used for training</a:t>
            </a:r>
            <a:endParaRPr lang="en-IN" dirty="0">
              <a:solidFill>
                <a:srgbClr val="0000CC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14834-E4D4-BE9B-F999-DF0D01944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600" dirty="0"/>
              <a:t>Source:</a:t>
            </a:r>
            <a:endParaRPr lang="en-US" sz="2600" dirty="0">
              <a:hlinkClick r:id="rId2"/>
            </a:endParaRPr>
          </a:p>
          <a:p>
            <a:pPr marL="0" indent="0">
              <a:buNone/>
            </a:pPr>
            <a:r>
              <a:rPr lang="en-US" sz="2600" u="sng" dirty="0">
                <a:hlinkClick r:id="rId2"/>
              </a:rPr>
              <a:t> Fake news detection dataset</a:t>
            </a:r>
            <a:r>
              <a:rPr lang="en-US" sz="2600" u="sng" dirty="0"/>
              <a:t> </a:t>
            </a:r>
            <a:r>
              <a:rPr lang="en-US" sz="2600" dirty="0"/>
              <a:t>(Kaggle)</a:t>
            </a:r>
          </a:p>
          <a:p>
            <a:pPr marL="0" indent="0">
              <a:buNone/>
            </a:pPr>
            <a:r>
              <a:rPr lang="en-US" sz="2600" dirty="0"/>
              <a:t>Total articles: 44,000+</a:t>
            </a:r>
          </a:p>
          <a:p>
            <a:pPr marL="0" indent="0">
              <a:buNone/>
            </a:pPr>
            <a:r>
              <a:rPr lang="en-US" sz="2600" dirty="0"/>
              <a:t>Fake articles: 23,000+</a:t>
            </a:r>
          </a:p>
          <a:p>
            <a:pPr marL="0" indent="0">
              <a:buNone/>
            </a:pPr>
            <a:r>
              <a:rPr lang="en-US" sz="2600" dirty="0"/>
              <a:t>Real articles: 21,000+</a:t>
            </a:r>
          </a:p>
          <a:p>
            <a:pPr marL="0" indent="0">
              <a:buNone/>
            </a:pPr>
            <a:endParaRPr lang="en-US" sz="2600" u="sng" dirty="0"/>
          </a:p>
          <a:p>
            <a:pPr marL="0" indent="0">
              <a:buNone/>
            </a:pPr>
            <a:endParaRPr lang="en-IN" sz="2600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2741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D652F-A634-3181-B20C-8C3D30197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74" y="12684"/>
            <a:ext cx="7772400" cy="1609344"/>
          </a:xfrm>
        </p:spPr>
        <p:txBody>
          <a:bodyPr/>
          <a:lstStyle/>
          <a:p>
            <a:r>
              <a:rPr lang="en-US" dirty="0">
                <a:solidFill>
                  <a:srgbClr val="0000CC"/>
                </a:solidFill>
              </a:rPr>
              <a:t>VISUALISATIONS OF DATASETs</a:t>
            </a:r>
            <a:endParaRPr lang="en-IN" dirty="0">
              <a:solidFill>
                <a:srgbClr val="0000CC"/>
              </a:solidFill>
            </a:endParaRPr>
          </a:p>
        </p:txBody>
      </p:sp>
      <p:pic>
        <p:nvPicPr>
          <p:cNvPr id="5" name="Content Placeholder 4" descr="A group of graphs and charts">
            <a:extLst>
              <a:ext uri="{FF2B5EF4-FFF2-40B4-BE49-F238E27FC236}">
                <a16:creationId xmlns:a16="http://schemas.microsoft.com/office/drawing/2014/main" id="{98124FE6-969F-69BB-459A-323444544E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0390" y="1789176"/>
            <a:ext cx="8127810" cy="4700114"/>
          </a:xfrm>
        </p:spPr>
      </p:pic>
    </p:spTree>
    <p:extLst>
      <p:ext uri="{BB962C8B-B14F-4D97-AF65-F5344CB8AC3E}">
        <p14:creationId xmlns:p14="http://schemas.microsoft.com/office/powerpoint/2010/main" val="2536485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graph&#10;&#10;AI-generated content may be incorrect.">
            <a:extLst>
              <a:ext uri="{FF2B5EF4-FFF2-40B4-BE49-F238E27FC236}">
                <a16:creationId xmlns:a16="http://schemas.microsoft.com/office/drawing/2014/main" id="{03100214-4FD0-54AD-ABF0-D749C5EBF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7308"/>
            <a:ext cx="9144000" cy="5683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960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99"/>
                </a:solidFill>
              </a:defRPr>
            </a:pPr>
            <a:r>
              <a:t>Backend (Flask Application)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500"/>
              </a:spcAft>
              <a:defRPr sz="2000"/>
            </a:pPr>
            <a:r>
              <a:t>• Flask REST API for model training and predictions</a:t>
            </a:r>
          </a:p>
          <a:p>
            <a:pPr>
              <a:spcAft>
                <a:spcPts val="500"/>
              </a:spcAft>
              <a:defRPr sz="2000"/>
            </a:pPr>
            <a:r>
              <a:t>• Endpoints:</a:t>
            </a:r>
          </a:p>
          <a:p>
            <a:pPr>
              <a:spcAft>
                <a:spcPts val="500"/>
              </a:spcAft>
              <a:defRPr sz="2000"/>
            </a:pPr>
            <a:r>
              <a:t>   - /api/predict → Predict fake or real news</a:t>
            </a:r>
          </a:p>
          <a:p>
            <a:pPr>
              <a:spcAft>
                <a:spcPts val="500"/>
              </a:spcAft>
              <a:defRPr sz="2000"/>
            </a:pPr>
            <a:r>
              <a:t>   - /api/stats → Retrieve model performance metrics</a:t>
            </a:r>
          </a:p>
          <a:p>
            <a:pPr>
              <a:spcAft>
                <a:spcPts val="500"/>
              </a:spcAft>
              <a:defRPr sz="2000"/>
            </a:pPr>
            <a:r>
              <a:t>   - /api/retrain → Retrain model with updated datasets</a:t>
            </a:r>
          </a:p>
          <a:p>
            <a:pPr>
              <a:spcAft>
                <a:spcPts val="500"/>
              </a:spcAft>
              <a:defRPr sz="2000"/>
            </a:pPr>
            <a:r>
              <a:t>• Saves trained model and TF-IDF vectorizer using Pickle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99"/>
                </a:solidFill>
              </a:defRPr>
            </a:pPr>
            <a:r>
              <a:t>Machine Learning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500"/>
              </a:spcAft>
              <a:defRPr sz="2000"/>
            </a:pPr>
            <a:r>
              <a:t>• Text preprocessing includes cleaning URLs, punctuation, and hashtags</a:t>
            </a:r>
          </a:p>
          <a:p>
            <a:pPr>
              <a:spcAft>
                <a:spcPts val="500"/>
              </a:spcAft>
              <a:defRPr sz="2000"/>
            </a:pPr>
            <a:r>
              <a:t>• TF-IDF Vectorizer extracts features from text</a:t>
            </a:r>
          </a:p>
          <a:p>
            <a:pPr>
              <a:spcAft>
                <a:spcPts val="500"/>
              </a:spcAft>
              <a:defRPr sz="2000"/>
            </a:pPr>
            <a:r>
              <a:t>• Logistic Regression classifier predicts fake vs. real</a:t>
            </a:r>
          </a:p>
          <a:p>
            <a:pPr>
              <a:spcAft>
                <a:spcPts val="500"/>
              </a:spcAft>
              <a:defRPr sz="2000"/>
            </a:pPr>
            <a:r>
              <a:t>• Model evaluated on Accuracy, Precision, Recall, and F1-score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99"/>
                </a:solidFill>
              </a:defRPr>
            </a:pPr>
            <a:r>
              <a:t>Frontend (React Application)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500"/>
              </a:spcAft>
              <a:defRPr sz="2000"/>
            </a:pPr>
            <a:r>
              <a:t>• Developed using React and Tailwind CSS</a:t>
            </a:r>
          </a:p>
          <a:p>
            <a:pPr>
              <a:spcAft>
                <a:spcPts val="500"/>
              </a:spcAft>
              <a:defRPr sz="2000"/>
            </a:pPr>
            <a:r>
              <a:t>• Connects to Flask backend for real-time predictions</a:t>
            </a:r>
          </a:p>
          <a:p>
            <a:pPr>
              <a:spcAft>
                <a:spcPts val="500"/>
              </a:spcAft>
              <a:defRPr sz="2000"/>
            </a:pPr>
            <a:r>
              <a:t>• Displays live model metrics (accuracy, F1-score, etc.)</a:t>
            </a:r>
          </a:p>
          <a:p>
            <a:pPr>
              <a:spcAft>
                <a:spcPts val="500"/>
              </a:spcAft>
              <a:defRPr sz="2000"/>
            </a:pPr>
            <a:r>
              <a:t>• Interactive design with example news articles and visual confidence bars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99"/>
                </a:solidFill>
              </a:defRPr>
            </a:pPr>
            <a:r>
              <a:rPr dirty="0"/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73327"/>
            <a:ext cx="8229600" cy="4525963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inputs news text on the frontend</a:t>
            </a:r>
          </a:p>
          <a:p>
            <a:pPr marL="0" indent="0" algn="ctr">
              <a:spcAft>
                <a:spcPts val="500"/>
              </a:spcAft>
              <a:buNone/>
              <a:defRPr sz="2000"/>
            </a:pP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spcAft>
                <a:spcPts val="500"/>
              </a:spcAft>
              <a:buNone/>
              <a:defRPr sz="2000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sent to Flask backend via POST request</a:t>
            </a:r>
          </a:p>
          <a:p>
            <a:pPr marL="0" indent="0" algn="ctr">
              <a:spcAft>
                <a:spcPts val="500"/>
              </a:spcAft>
              <a:buNone/>
              <a:defRPr sz="2000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</a:p>
          <a:p>
            <a:pPr marL="0" indent="0" algn="ctr">
              <a:spcAft>
                <a:spcPts val="500"/>
              </a:spcAft>
              <a:buNone/>
              <a:defRPr sz="2000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cleaned and transformed using TF-IDF</a:t>
            </a:r>
          </a:p>
          <a:p>
            <a:pPr marL="0" indent="0" algn="ctr">
              <a:spcAft>
                <a:spcPts val="500"/>
              </a:spcAft>
              <a:buNone/>
              <a:defRPr sz="2000"/>
            </a:pP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spcAft>
                <a:spcPts val="500"/>
              </a:spcAft>
              <a:buNone/>
              <a:defRPr sz="2000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model predicts authenticity</a:t>
            </a:r>
          </a:p>
          <a:p>
            <a:pPr marL="0" indent="0" algn="ctr">
              <a:spcAft>
                <a:spcPts val="500"/>
              </a:spcAft>
              <a:buNone/>
              <a:defRPr sz="2000"/>
            </a:pP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spcAft>
                <a:spcPts val="500"/>
              </a:spcAft>
              <a:buNone/>
              <a:defRPr sz="2000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displays result with confidence levels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705F5EF0-10CA-B82E-C62D-1C66A66AEBBD}"/>
              </a:ext>
            </a:extLst>
          </p:cNvPr>
          <p:cNvSpPr/>
          <p:nvPr/>
        </p:nvSpPr>
        <p:spPr>
          <a:xfrm>
            <a:off x="4311445" y="2146513"/>
            <a:ext cx="442452" cy="21631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1B70830B-C1EB-219C-B081-212C8CB440F8}"/>
              </a:ext>
            </a:extLst>
          </p:cNvPr>
          <p:cNvSpPr/>
          <p:nvPr/>
        </p:nvSpPr>
        <p:spPr>
          <a:xfrm>
            <a:off x="4311445" y="3177716"/>
            <a:ext cx="442452" cy="21631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60B72F4F-2068-50B6-F00B-D86BD684A16F}"/>
              </a:ext>
            </a:extLst>
          </p:cNvPr>
          <p:cNvSpPr/>
          <p:nvPr/>
        </p:nvSpPr>
        <p:spPr>
          <a:xfrm>
            <a:off x="4291780" y="4987854"/>
            <a:ext cx="442452" cy="21631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EE862FF5-8828-5415-ED6E-30CF249E605D}"/>
              </a:ext>
            </a:extLst>
          </p:cNvPr>
          <p:cNvSpPr/>
          <p:nvPr/>
        </p:nvSpPr>
        <p:spPr>
          <a:xfrm>
            <a:off x="4311445" y="4092729"/>
            <a:ext cx="442452" cy="21631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99"/>
                </a:solidFill>
              </a:defRPr>
            </a:pPr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7142" y="2807208"/>
            <a:ext cx="7772400" cy="4050792"/>
          </a:xfrm>
        </p:spPr>
        <p:txBody>
          <a:bodyPr/>
          <a:lstStyle/>
          <a:p>
            <a:endParaRPr dirty="0"/>
          </a:p>
          <a:p>
            <a:pPr>
              <a:spcAft>
                <a:spcPts val="500"/>
              </a:spcAft>
              <a:defRPr sz="2000"/>
            </a:pPr>
            <a:r>
              <a:rPr sz="2500" dirty="0"/>
              <a:t>🔹 Backend: Python, Flask, Pandas, Scikit-learn</a:t>
            </a:r>
          </a:p>
          <a:p>
            <a:pPr>
              <a:spcAft>
                <a:spcPts val="500"/>
              </a:spcAft>
              <a:defRPr sz="2000"/>
            </a:pPr>
            <a:r>
              <a:rPr sz="2500" dirty="0"/>
              <a:t>🔹 Frontend: React.js, Tailwind CSS, Babel</a:t>
            </a:r>
          </a:p>
          <a:p>
            <a:pPr>
              <a:spcAft>
                <a:spcPts val="500"/>
              </a:spcAft>
              <a:defRPr sz="2000"/>
            </a:pPr>
            <a:r>
              <a:rPr sz="2500" dirty="0"/>
              <a:t>🔹 Model Storage: Pickle</a:t>
            </a:r>
          </a:p>
          <a:p>
            <a:pPr>
              <a:spcAft>
                <a:spcPts val="500"/>
              </a:spcAft>
              <a:defRPr sz="2000"/>
            </a:pPr>
            <a:r>
              <a:rPr sz="2500" dirty="0"/>
              <a:t>🔹 Communication: RESTful APIs with JSON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99"/>
                </a:solidFill>
              </a:defRPr>
            </a:pPr>
            <a:r>
              <a:t>Model Results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500"/>
              </a:spcAft>
              <a:defRPr sz="2000"/>
            </a:pPr>
            <a:r>
              <a:rPr sz="3000" dirty="0"/>
              <a:t>• Accuracy: ~95% on Kaggle dataset</a:t>
            </a:r>
          </a:p>
          <a:p>
            <a:pPr>
              <a:spcAft>
                <a:spcPts val="500"/>
              </a:spcAft>
              <a:defRPr sz="2000"/>
            </a:pPr>
            <a:r>
              <a:rPr sz="3000" dirty="0"/>
              <a:t>• Precision: 94%</a:t>
            </a:r>
          </a:p>
          <a:p>
            <a:pPr>
              <a:spcAft>
                <a:spcPts val="500"/>
              </a:spcAft>
              <a:defRPr sz="2000"/>
            </a:pPr>
            <a:r>
              <a:rPr sz="3000" dirty="0"/>
              <a:t>• Recall: 93%</a:t>
            </a:r>
          </a:p>
          <a:p>
            <a:pPr>
              <a:spcAft>
                <a:spcPts val="500"/>
              </a:spcAft>
              <a:defRPr sz="2000"/>
            </a:pPr>
            <a:r>
              <a:rPr sz="3000" dirty="0"/>
              <a:t>• F1-Score: 93.5%</a:t>
            </a:r>
          </a:p>
          <a:p>
            <a:pPr marL="1671400" lvl="6" indent="0">
              <a:spcAft>
                <a:spcPts val="500"/>
              </a:spcAft>
              <a:buNone/>
              <a:defRPr sz="2000"/>
            </a:pP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99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dirty="0"/>
          </a:p>
          <a:p>
            <a:pPr>
              <a:spcAft>
                <a:spcPts val="500"/>
              </a:spcAft>
              <a:defRPr sz="2000"/>
            </a:pPr>
            <a:r>
              <a:rPr sz="3000" dirty="0"/>
              <a:t>Combines Machine Learning and Web Development effectively</a:t>
            </a:r>
          </a:p>
          <a:p>
            <a:pPr>
              <a:spcAft>
                <a:spcPts val="500"/>
              </a:spcAft>
              <a:defRPr sz="2000"/>
            </a:pPr>
            <a:r>
              <a:rPr sz="3000" dirty="0"/>
              <a:t>Provides real-time AI-powered verification of news authenticity</a:t>
            </a:r>
          </a:p>
          <a:p>
            <a:pPr>
              <a:spcAft>
                <a:spcPts val="500"/>
              </a:spcAft>
              <a:defRPr sz="2000"/>
            </a:pPr>
            <a:r>
              <a:rPr sz="3000" dirty="0"/>
              <a:t> Demonstrates full-stack integration of Flask and React</a:t>
            </a:r>
          </a:p>
          <a:p>
            <a:pPr>
              <a:spcAft>
                <a:spcPts val="500"/>
              </a:spcAft>
              <a:defRPr sz="2000"/>
            </a:pPr>
            <a:r>
              <a:rPr sz="3000" dirty="0"/>
              <a:t>Scalable solution for combating misinformation online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29</TotalTime>
  <Words>392</Words>
  <Application>Microsoft Office PowerPoint</Application>
  <PresentationFormat>On-screen Show (4:3)</PresentationFormat>
  <Paragraphs>69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Rockwell</vt:lpstr>
      <vt:lpstr>Rockwell Condensed</vt:lpstr>
      <vt:lpstr>Times New Roman</vt:lpstr>
      <vt:lpstr>Wingdings</vt:lpstr>
      <vt:lpstr>Wood Type</vt:lpstr>
      <vt:lpstr>Fake News Detection System</vt:lpstr>
      <vt:lpstr>Project Overview</vt:lpstr>
      <vt:lpstr>Problem Statement</vt:lpstr>
      <vt:lpstr>Dataset used for training</vt:lpstr>
      <vt:lpstr>VISUALISATIONS OF DATASETs</vt:lpstr>
      <vt:lpstr>PowerPoint Presentation</vt:lpstr>
      <vt:lpstr>Backend (Flask Application)</vt:lpstr>
      <vt:lpstr>Machine Learning Model</vt:lpstr>
      <vt:lpstr>Frontend (React Application)</vt:lpstr>
      <vt:lpstr>System Workflow</vt:lpstr>
      <vt:lpstr>Technologies Used</vt:lpstr>
      <vt:lpstr>Model Results &amp; Performance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arundhati bhattacharrya</cp:lastModifiedBy>
  <cp:revision>3</cp:revision>
  <dcterms:created xsi:type="dcterms:W3CDTF">2013-01-27T09:14:16Z</dcterms:created>
  <dcterms:modified xsi:type="dcterms:W3CDTF">2025-11-13T13:51:16Z</dcterms:modified>
  <cp:category/>
</cp:coreProperties>
</file>